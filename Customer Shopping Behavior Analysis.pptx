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2600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jpeg"/><Relationship Id="rId4" Type="http://schemas.openxmlformats.org/officeDocument/2006/relationships/image" Target="../media/image9.pn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3.jpeg"/><Relationship Id="rId4" Type="http://schemas.openxmlformats.org/officeDocument/2006/relationships/image" Target="../media/image18.png"/><Relationship Id="rId9" Type="http://schemas.openxmlformats.org/officeDocument/2006/relationships/image" Target="../media/image15.jpeg"/></Relationships>
</file>

<file path=ppt/slides/_rels/slide5.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6.jpeg"/><Relationship Id="rId4" Type="http://schemas.openxmlformats.org/officeDocument/2006/relationships/image" Target="../media/image18.png"/><Relationship Id="rId9" Type="http://schemas.openxmlformats.org/officeDocument/2006/relationships/image" Target="../media/image25.jpeg"/></Relationships>
</file>

<file path=ppt/slides/_rels/slide7.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9.jpe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svg"/><Relationship Id="rId12"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912972"/>
            <a:ext cx="12191695" cy="8683944"/>
          </a:xfrm>
          <a:prstGeom prst="rect">
            <a:avLst/>
          </a:prstGeom>
        </p:spPr>
      </p:pic>
      <p:pic>
        <p:nvPicPr>
          <p:cNvPr id="3"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85943" y="1269968"/>
            <a:ext cx="304792" cy="304792"/>
          </a:xfrm>
          <a:prstGeom prst="rect">
            <a:avLst/>
          </a:prstGeom>
        </p:spPr>
      </p:pic>
      <p:pic>
        <p:nvPicPr>
          <p:cNvPr id="4"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175721" y="5333867"/>
            <a:ext cx="406390" cy="406390"/>
          </a:xfrm>
          <a:prstGeom prst="rect">
            <a:avLst/>
          </a:prstGeom>
        </p:spPr>
      </p:pic>
      <p:pic>
        <p:nvPicPr>
          <p:cNvPr id="5" name="Image 3" descr="preencoded.png"/>
          <p:cNvPicPr>
            <a:picLocks noChangeAspect="1"/>
          </p:cNvPicPr>
          <p:nvPr/>
        </p:nvPicPr>
        <p:blipFill>
          <a:blip r:embed="rId8"/>
          <a:stretch>
            <a:fillRect/>
          </a:stretch>
        </p:blipFill>
        <p:spPr>
          <a:xfrm>
            <a:off x="380990" y="5714857"/>
            <a:ext cx="1269968" cy="761981"/>
          </a:xfrm>
          <a:prstGeom prst="rect">
            <a:avLst/>
          </a:prstGeom>
        </p:spPr>
      </p:pic>
      <p:pic>
        <p:nvPicPr>
          <p:cNvPr id="6" name="Image 4" descr="preencoded.png"/>
          <p:cNvPicPr>
            <a:picLocks noChangeAspect="1"/>
          </p:cNvPicPr>
          <p:nvPr/>
        </p:nvPicPr>
        <p:blipFill>
          <a:blip r:embed="rId8"/>
          <a:stretch>
            <a:fillRect/>
          </a:stretch>
        </p:blipFill>
        <p:spPr>
          <a:xfrm>
            <a:off x="10540736" y="5714857"/>
            <a:ext cx="1269968" cy="761981"/>
          </a:xfrm>
          <a:prstGeom prst="rect">
            <a:avLst/>
          </a:prstGeom>
        </p:spPr>
      </p:pic>
      <p:sp>
        <p:nvSpPr>
          <p:cNvPr id="7" name="Text 0"/>
          <p:cNvSpPr/>
          <p:nvPr/>
        </p:nvSpPr>
        <p:spPr>
          <a:xfrm>
            <a:off x="380990" y="5092573"/>
            <a:ext cx="11429714" cy="901677"/>
          </a:xfrm>
          <a:prstGeom prst="rect">
            <a:avLst/>
          </a:prstGeom>
          <a:solidFill>
            <a:srgbClr val="000000"/>
          </a:solidFill>
          <a:ln/>
        </p:spPr>
        <p:txBody>
          <a:bodyPr wrap="square" lIns="1016" tIns="1016" rIns="1016" bIns="1016" rtlCol="0" anchor="t"/>
          <a:lstStyle/>
          <a:p>
            <a:pPr marL="0" indent="0" algn="ctr">
              <a:lnSpc>
                <a:spcPct val="130000"/>
              </a:lnSpc>
              <a:buNone/>
            </a:pPr>
            <a:r>
              <a:rPr lang="en-US" sz="3800" b="1" dirty="0">
                <a:solidFill>
                  <a:srgbClr val="F8F8F7"/>
                </a:solidFill>
                <a:latin typeface="Calibri" pitchFamily="34" charset="0"/>
                <a:ea typeface="Calibri" pitchFamily="34" charset="-122"/>
                <a:cs typeface="Calibri" pitchFamily="34" charset="-120"/>
              </a:rPr>
              <a:t>Customer Shopping Behavior Analysis</a:t>
            </a:r>
            <a:r>
              <a:rPr lang="en-US" sz="3800" dirty="0">
                <a:solidFill>
                  <a:srgbClr val="F8F8F7"/>
                </a:solidFill>
                <a:latin typeface="Calibri" pitchFamily="34" charset="0"/>
                <a:ea typeface="Calibri" pitchFamily="34" charset="-122"/>
                <a:cs typeface="Calibri" pitchFamily="34" charset="-120"/>
              </a:rPr>
              <a:t>
</a:t>
            </a:r>
            <a:endParaRPr lang="en-US" sz="3800" dirty="0"/>
          </a:p>
        </p:txBody>
      </p:sp>
      <p:sp>
        <p:nvSpPr>
          <p:cNvPr id="8" name="Text 1"/>
          <p:cNvSpPr/>
          <p:nvPr/>
        </p:nvSpPr>
        <p:spPr>
          <a:xfrm>
            <a:off x="761981" y="3301917"/>
            <a:ext cx="10667733" cy="380990"/>
          </a:xfrm>
          <a:prstGeom prst="rect">
            <a:avLst/>
          </a:prstGeom>
          <a:noFill/>
          <a:ln/>
        </p:spPr>
        <p:txBody>
          <a:bodyPr wrap="square" lIns="1016" tIns="1016" rIns="1016" bIns="1016" rtlCol="0" anchor="t"/>
          <a:lstStyle/>
          <a:p>
            <a:pPr marL="0" indent="0" algn="ctr">
              <a:lnSpc>
                <a:spcPct val="130000"/>
              </a:lnSpc>
              <a:buNone/>
            </a:pPr>
            <a:r>
              <a:rPr lang="en-US" sz="1100" dirty="0">
                <a:solidFill>
                  <a:srgbClr val="94A3B8"/>
                </a:solidFill>
                <a:latin typeface="Calibri" pitchFamily="34" charset="0"/>
                <a:ea typeface="Calibri" pitchFamily="34" charset="-122"/>
                <a:cs typeface="Calibri" pitchFamily="34" charset="-120"/>
              </a:rPr>
              <a:t>PRESENTED BY
</a:t>
            </a:r>
            <a:endParaRPr lang="en-US" sz="1100" dirty="0"/>
          </a:p>
        </p:txBody>
      </p:sp>
      <p:sp>
        <p:nvSpPr>
          <p:cNvPr id="9" name="Text 2"/>
          <p:cNvSpPr/>
          <p:nvPr/>
        </p:nvSpPr>
        <p:spPr>
          <a:xfrm>
            <a:off x="380990" y="5803755"/>
            <a:ext cx="11429714" cy="584185"/>
          </a:xfrm>
          <a:prstGeom prst="rect">
            <a:avLst/>
          </a:prstGeom>
          <a:solidFill>
            <a:srgbClr val="0D0D0D"/>
          </a:solidFill>
          <a:ln/>
        </p:spPr>
        <p:txBody>
          <a:bodyPr wrap="square" lIns="1016" tIns="1016" rIns="1016" bIns="1016" rtlCol="0" anchor="t"/>
          <a:lstStyle/>
          <a:p>
            <a:pPr marL="0" indent="0" algn="ctr">
              <a:lnSpc>
                <a:spcPct val="130000"/>
              </a:lnSpc>
              <a:buNone/>
            </a:pPr>
            <a:r>
              <a:rPr lang="en-US" sz="2200" dirty="0">
                <a:solidFill>
                  <a:srgbClr val="B8B323"/>
                </a:solidFill>
                <a:latin typeface="Calibri" pitchFamily="34" charset="0"/>
                <a:ea typeface="Calibri" pitchFamily="34" charset="-122"/>
                <a:cs typeface="Calibri" pitchFamily="34" charset="-120"/>
              </a:rPr>
              <a:t>By - Prince Kaushik</a:t>
            </a:r>
            <a:r>
              <a:rPr lang="en-US" sz="2200" dirty="0">
                <a:solidFill>
                  <a:srgbClr val="F5F4DB"/>
                </a:solidFill>
                <a:latin typeface="Calibri" pitchFamily="34" charset="0"/>
                <a:ea typeface="Calibri" pitchFamily="34" charset="-122"/>
                <a:cs typeface="Calibri" pitchFamily="34" charset="-120"/>
              </a:rPr>
              <a:t>
</a:t>
            </a:r>
            <a:endParaRPr lang="en-US" sz="2200" dirty="0"/>
          </a:p>
        </p:txBody>
      </p:sp>
      <p:sp>
        <p:nvSpPr>
          <p:cNvPr id="10" name="Text 3"/>
          <p:cNvSpPr/>
          <p:nvPr/>
        </p:nvSpPr>
        <p:spPr>
          <a:xfrm>
            <a:off x="761981" y="4190895"/>
            <a:ext cx="10896328" cy="507987"/>
          </a:xfrm>
          <a:prstGeom prst="rect">
            <a:avLst/>
          </a:prstGeom>
          <a:noFill/>
          <a:ln/>
        </p:spPr>
        <p:txBody>
          <a:bodyPr wrap="square" lIns="1016" tIns="1016" rIns="1016" bIns="1016" rtlCol="0" anchor="t"/>
          <a:lstStyle/>
          <a:p>
            <a:pPr marL="0" indent="0" algn="ctr">
              <a:lnSpc>
                <a:spcPct val="130000"/>
              </a:lnSpc>
              <a:buNone/>
            </a:pPr>
            <a:r>
              <a:rPr lang="en-US" sz="1800" dirty="0">
                <a:solidFill>
                  <a:srgbClr val="3B82F6"/>
                </a:solidFill>
                <a:latin typeface="Calibri" pitchFamily="34" charset="0"/>
                <a:ea typeface="Calibri" pitchFamily="34" charset="-122"/>
                <a:cs typeface="Calibri" pitchFamily="34" charset="-120"/>
              </a:rPr>
              <a:t>
</a:t>
            </a:r>
            <a:endParaRPr lang="en-US" sz="1800" dirty="0"/>
          </a:p>
        </p:txBody>
      </p:sp>
      <p:sp>
        <p:nvSpPr>
          <p:cNvPr id="11" name="Text 4"/>
          <p:cNvSpPr/>
          <p:nvPr/>
        </p:nvSpPr>
        <p:spPr>
          <a:xfrm>
            <a:off x="761981" y="4762381"/>
            <a:ext cx="11383994" cy="507987"/>
          </a:xfrm>
          <a:prstGeom prst="rect">
            <a:avLst/>
          </a:prstGeom>
          <a:noFill/>
          <a:ln/>
        </p:spPr>
        <p:txBody>
          <a:bodyPr wrap="square" lIns="1016" tIns="1016" rIns="1016" bIns="1016" rtlCol="0" anchor="t"/>
          <a:lstStyle/>
          <a:p>
            <a:pPr marL="0" indent="0" algn="ctr">
              <a:lnSpc>
                <a:spcPct val="130000"/>
              </a:lnSpc>
              <a:buNone/>
            </a:pPr>
            <a:r>
              <a:rPr lang="en-US" sz="1400" dirty="0">
                <a:solidFill>
                  <a:srgbClr val="64748B"/>
                </a:solidFill>
                <a:latin typeface="Calibri" pitchFamily="34" charset="0"/>
                <a:ea typeface="Calibri" pitchFamily="34" charset="-122"/>
                <a:cs typeface="Calibri" pitchFamily="34" charset="-120"/>
              </a:rPr>
              <a:t>
</a:t>
            </a:r>
            <a:endParaRPr lang="en-US" sz="1400" dirty="0"/>
          </a:p>
        </p:txBody>
      </p:sp>
      <p:pic>
        <p:nvPicPr>
          <p:cNvPr id="12" name="Image 5" descr="preencoded.png"/>
          <p:cNvPicPr>
            <a:picLocks noChangeAspect="1"/>
          </p:cNvPicPr>
          <p:nvPr/>
        </p:nvPicPr>
        <p:blipFill>
          <a:blip r:embed="rId9"/>
          <a:stretch>
            <a:fillRect/>
          </a:stretch>
        </p:blipFill>
        <p:spPr>
          <a:xfrm>
            <a:off x="0" y="0"/>
            <a:ext cx="12145975" cy="10159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000800" y="634984"/>
            <a:ext cx="3555911" cy="5587860"/>
          </a:xfrm>
          <a:prstGeom prst="rect">
            <a:avLst/>
          </a:prstGeom>
        </p:spPr>
      </p:pic>
      <p:pic>
        <p:nvPicPr>
          <p:cNvPr id="3" name="Image 1" descr="preencoded.png"/>
          <p:cNvPicPr>
            <a:picLocks noChangeAspect="1"/>
          </p:cNvPicPr>
          <p:nvPr/>
        </p:nvPicPr>
        <p:blipFill>
          <a:blip r:embed="rId4"/>
          <a:stretch>
            <a:fillRect/>
          </a:stretch>
        </p:blipFill>
        <p:spPr>
          <a:xfrm>
            <a:off x="4876678" y="190495"/>
            <a:ext cx="1904952" cy="1904952"/>
          </a:xfrm>
          <a:prstGeom prst="rect">
            <a:avLst/>
          </a:prstGeom>
        </p:spPr>
      </p:pic>
      <p:pic>
        <p:nvPicPr>
          <p:cNvPr id="4" name="Image 2" descr="preencoded.png"/>
          <p:cNvPicPr>
            <a:picLocks noChangeAspect="1"/>
          </p:cNvPicPr>
          <p:nvPr/>
        </p:nvPicPr>
        <p:blipFill>
          <a:blip r:embed="rId3"/>
          <a:stretch>
            <a:fillRect/>
          </a:stretch>
        </p:blipFill>
        <p:spPr>
          <a:xfrm>
            <a:off x="8000800" y="634984"/>
            <a:ext cx="3555911" cy="5587860"/>
          </a:xfrm>
          <a:prstGeom prst="rect">
            <a:avLst/>
          </a:prstGeom>
        </p:spPr>
      </p:pic>
      <p:pic>
        <p:nvPicPr>
          <p:cNvPr id="5" name="Image 3" descr="preencoded.png"/>
          <p:cNvPicPr>
            <a:picLocks noChangeAspect="1"/>
          </p:cNvPicPr>
          <p:nvPr/>
        </p:nvPicPr>
        <p:blipFill>
          <a:blip r:embed="rId4"/>
          <a:stretch>
            <a:fillRect/>
          </a:stretch>
        </p:blipFill>
        <p:spPr>
          <a:xfrm>
            <a:off x="4876678" y="190495"/>
            <a:ext cx="1904952" cy="1904952"/>
          </a:xfrm>
          <a:prstGeom prst="rect">
            <a:avLst/>
          </a:prstGeom>
        </p:spPr>
      </p:pic>
      <p:pic>
        <p:nvPicPr>
          <p:cNvPr id="6"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84905" y="5841854"/>
            <a:ext cx="761981" cy="761981"/>
          </a:xfrm>
          <a:prstGeom prst="rect">
            <a:avLst/>
          </a:prstGeom>
        </p:spPr>
      </p:pic>
      <p:pic>
        <p:nvPicPr>
          <p:cNvPr id="7"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67733" y="126997"/>
            <a:ext cx="1478242" cy="1523962"/>
          </a:xfrm>
          <a:prstGeom prst="rect">
            <a:avLst/>
          </a:prstGeom>
        </p:spPr>
      </p:pic>
      <p:pic>
        <p:nvPicPr>
          <p:cNvPr id="8" name="Image 6"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84905" y="5841854"/>
            <a:ext cx="761981" cy="761981"/>
          </a:xfrm>
          <a:prstGeom prst="rect">
            <a:avLst/>
          </a:prstGeom>
        </p:spPr>
      </p:pic>
      <p:pic>
        <p:nvPicPr>
          <p:cNvPr id="9" name="Image 7"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67733" y="126997"/>
            <a:ext cx="1478242" cy="1523962"/>
          </a:xfrm>
          <a:prstGeom prst="rect">
            <a:avLst/>
          </a:prstGeom>
        </p:spPr>
      </p:pic>
      <p:pic>
        <p:nvPicPr>
          <p:cNvPr id="10" name="Image 8" descr="preencoded.png"/>
          <p:cNvPicPr>
            <a:picLocks noChangeAspect="1"/>
          </p:cNvPicPr>
          <p:nvPr/>
        </p:nvPicPr>
        <p:blipFill>
          <a:blip r:embed="rId9"/>
          <a:stretch>
            <a:fillRect/>
          </a:stretch>
        </p:blipFill>
        <p:spPr>
          <a:xfrm>
            <a:off x="0" y="6730832"/>
            <a:ext cx="5079873" cy="81448"/>
          </a:xfrm>
          <a:prstGeom prst="rect">
            <a:avLst/>
          </a:prstGeom>
        </p:spPr>
      </p:pic>
      <p:pic>
        <p:nvPicPr>
          <p:cNvPr id="11" name="Image 9" descr="preencoded.png"/>
          <p:cNvPicPr>
            <a:picLocks noChangeAspect="1"/>
          </p:cNvPicPr>
          <p:nvPr/>
        </p:nvPicPr>
        <p:blipFill>
          <a:blip r:embed="rId9"/>
          <a:stretch>
            <a:fillRect/>
          </a:stretch>
        </p:blipFill>
        <p:spPr>
          <a:xfrm>
            <a:off x="0" y="6730832"/>
            <a:ext cx="5079873" cy="81448"/>
          </a:xfrm>
          <a:prstGeom prst="rect">
            <a:avLst/>
          </a:prstGeom>
        </p:spPr>
      </p:pic>
      <p:pic>
        <p:nvPicPr>
          <p:cNvPr id="12" name="Image 10" descr="preencoded.png"/>
          <p:cNvPicPr>
            <a:picLocks noChangeAspect="1"/>
          </p:cNvPicPr>
          <p:nvPr/>
        </p:nvPicPr>
        <p:blipFill>
          <a:blip r:embed="rId10"/>
          <a:srcRect/>
          <a:stretch/>
        </p:blipFill>
        <p:spPr>
          <a:xfrm>
            <a:off x="8127797" y="761981"/>
            <a:ext cx="3301917" cy="5333867"/>
          </a:xfrm>
          <a:prstGeom prst="rect">
            <a:avLst/>
          </a:prstGeom>
        </p:spPr>
      </p:pic>
      <p:pic>
        <p:nvPicPr>
          <p:cNvPr id="13" name="Image 11" descr="preencoded.png"/>
          <p:cNvPicPr>
            <a:picLocks noChangeAspect="1"/>
          </p:cNvPicPr>
          <p:nvPr/>
        </p:nvPicPr>
        <p:blipFill>
          <a:blip r:embed="rId11"/>
          <a:stretch>
            <a:fillRect/>
          </a:stretch>
        </p:blipFill>
        <p:spPr>
          <a:xfrm>
            <a:off x="292093" y="304792"/>
            <a:ext cx="812780" cy="812780"/>
          </a:xfrm>
          <a:prstGeom prst="rect">
            <a:avLst/>
          </a:prstGeom>
        </p:spPr>
      </p:pic>
      <p:pic>
        <p:nvPicPr>
          <p:cNvPr id="14" name="Image 12" descr="preencoded.png"/>
          <p:cNvPicPr>
            <a:picLocks noChangeAspect="1"/>
          </p:cNvPicPr>
          <p:nvPr/>
        </p:nvPicPr>
        <p:blipFill>
          <a:blip r:embed="rId11"/>
          <a:stretch>
            <a:fillRect/>
          </a:stretch>
        </p:blipFill>
        <p:spPr>
          <a:xfrm>
            <a:off x="292093" y="304792"/>
            <a:ext cx="812780" cy="812780"/>
          </a:xfrm>
          <a:prstGeom prst="rect">
            <a:avLst/>
          </a:prstGeom>
        </p:spPr>
      </p:pic>
      <p:pic>
        <p:nvPicPr>
          <p:cNvPr id="15" name="Image 13" descr="preencoded.png"/>
          <p:cNvPicPr>
            <a:picLocks noChangeAspect="1"/>
          </p:cNvPicPr>
          <p:nvPr/>
        </p:nvPicPr>
        <p:blipFill>
          <a:blip r:embed="rId12"/>
          <a:stretch>
            <a:fillRect/>
          </a:stretch>
        </p:blipFill>
        <p:spPr>
          <a:xfrm>
            <a:off x="0" y="0"/>
            <a:ext cx="12145975" cy="101597"/>
          </a:xfrm>
          <a:prstGeom prst="rect">
            <a:avLst/>
          </a:prstGeom>
        </p:spPr>
      </p:pic>
      <p:pic>
        <p:nvPicPr>
          <p:cNvPr id="16" name="Image 14" descr="preencoded.png"/>
          <p:cNvPicPr>
            <a:picLocks noChangeAspect="1"/>
          </p:cNvPicPr>
          <p:nvPr/>
        </p:nvPicPr>
        <p:blipFill>
          <a:blip r:embed="rId12"/>
          <a:stretch>
            <a:fillRect/>
          </a:stretch>
        </p:blipFill>
        <p:spPr>
          <a:xfrm>
            <a:off x="0" y="0"/>
            <a:ext cx="12145975" cy="101597"/>
          </a:xfrm>
          <a:prstGeom prst="rect">
            <a:avLst/>
          </a:prstGeom>
        </p:spPr>
      </p:pic>
      <p:sp>
        <p:nvSpPr>
          <p:cNvPr id="17" name="Text 0"/>
          <p:cNvSpPr/>
          <p:nvPr/>
        </p:nvSpPr>
        <p:spPr>
          <a:xfrm>
            <a:off x="355591" y="1422364"/>
            <a:ext cx="7111822" cy="1777956"/>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F172A"/>
                </a:solidFill>
                <a:latin typeface="Calibri" pitchFamily="34" charset="0"/>
                <a:ea typeface="Calibri" pitchFamily="34" charset="-122"/>
                <a:cs typeface="Calibri" pitchFamily="34" charset="-120"/>
              </a:rPr>
              <a:t>Customer Shopping Behavior Analysis
</a:t>
            </a:r>
            <a:endParaRPr lang="en-US" sz="2900" dirty="0"/>
          </a:p>
        </p:txBody>
      </p:sp>
      <p:sp>
        <p:nvSpPr>
          <p:cNvPr id="18" name="Text 1"/>
          <p:cNvSpPr/>
          <p:nvPr/>
        </p:nvSpPr>
        <p:spPr>
          <a:xfrm>
            <a:off x="330192" y="2628834"/>
            <a:ext cx="6603835" cy="2666933"/>
          </a:xfrm>
          <a:prstGeom prst="rect">
            <a:avLst/>
          </a:prstGeom>
          <a:noFill/>
          <a:ln/>
        </p:spPr>
        <p:txBody>
          <a:bodyPr wrap="square" lIns="1016" tIns="1016" rIns="1016" bIns="1016" rtlCol="0" anchor="t"/>
          <a:lstStyle/>
          <a:p>
            <a:pPr marL="0" indent="0" algn="l">
              <a:lnSpc>
                <a:spcPct val="150000"/>
              </a:lnSpc>
              <a:buNone/>
            </a:pPr>
            <a:r>
              <a:rPr lang="en-US" sz="1300" dirty="0">
                <a:solidFill>
                  <a:srgbClr val="64748B"/>
                </a:solidFill>
                <a:latin typeface="Calibri" pitchFamily="34" charset="0"/>
                <a:ea typeface="Calibri" pitchFamily="34" charset="-122"/>
                <a:cs typeface="Calibri" pitchFamily="34" charset="-120"/>
              </a:rPr>
              <a:t>This presentation delves into the comprehensive analysis of customer shopping behavior, utilizing data-driven insights to enhance marketing strategies and improve customer engagement. By examining a dataset of 3,900 rows, we explore key metrics such as revenue by gender, product positioning, and customer segmentation. Our findings aim to inform business decisions and optimize sales performance through targeted marketing and effective loyalty programs.
</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3" name="Image 1"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4" name="Image 2"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5" name="Image 3"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6" name="Image 4" descr="preencoded.png"/>
          <p:cNvPicPr>
            <a:picLocks noChangeAspect="1"/>
          </p:cNvPicPr>
          <p:nvPr/>
        </p:nvPicPr>
        <p:blipFill>
          <a:blip r:embed="rId5"/>
          <a:stretch>
            <a:fillRect/>
          </a:stretch>
        </p:blipFill>
        <p:spPr>
          <a:xfrm>
            <a:off x="0" y="1269968"/>
            <a:ext cx="63498" cy="4444889"/>
          </a:xfrm>
          <a:prstGeom prst="rect">
            <a:avLst/>
          </a:prstGeom>
        </p:spPr>
      </p:pic>
      <p:pic>
        <p:nvPicPr>
          <p:cNvPr id="7" name="Image 5" descr="preencoded.png"/>
          <p:cNvPicPr>
            <a:picLocks noChangeAspect="1"/>
          </p:cNvPicPr>
          <p:nvPr/>
        </p:nvPicPr>
        <p:blipFill>
          <a:blip r:embed="rId5"/>
          <a:stretch>
            <a:fillRect/>
          </a:stretch>
        </p:blipFill>
        <p:spPr>
          <a:xfrm>
            <a:off x="0" y="1269968"/>
            <a:ext cx="63498" cy="4444889"/>
          </a:xfrm>
          <a:prstGeom prst="rect">
            <a:avLst/>
          </a:prstGeom>
        </p:spPr>
      </p:pic>
      <p:pic>
        <p:nvPicPr>
          <p:cNvPr id="8" name="Image 6"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9" name="Image 7"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10" name="Image 8" descr="preencoded.png"/>
          <p:cNvPicPr>
            <a:picLocks noChangeAspect="1"/>
          </p:cNvPicPr>
          <p:nvPr/>
        </p:nvPicPr>
        <p:blipFill>
          <a:blip r:embed="rId7"/>
          <a:stretch>
            <a:fillRect/>
          </a:stretch>
        </p:blipFill>
        <p:spPr>
          <a:xfrm>
            <a:off x="0" y="0"/>
            <a:ext cx="12145975" cy="76198"/>
          </a:xfrm>
          <a:prstGeom prst="rect">
            <a:avLst/>
          </a:prstGeom>
        </p:spPr>
      </p:pic>
      <p:pic>
        <p:nvPicPr>
          <p:cNvPr id="11" name="Image 9" descr="preencoded.png"/>
          <p:cNvPicPr>
            <a:picLocks noChangeAspect="1"/>
          </p:cNvPicPr>
          <p:nvPr/>
        </p:nvPicPr>
        <p:blipFill>
          <a:blip r:embed="rId7"/>
          <a:stretch>
            <a:fillRect/>
          </a:stretch>
        </p:blipFill>
        <p:spPr>
          <a:xfrm>
            <a:off x="0" y="0"/>
            <a:ext cx="12145975" cy="76198"/>
          </a:xfrm>
          <a:prstGeom prst="rect">
            <a:avLst/>
          </a:prstGeom>
        </p:spPr>
      </p:pic>
      <p:sp>
        <p:nvSpPr>
          <p:cNvPr id="12" name="Text 0"/>
          <p:cNvSpPr/>
          <p:nvPr/>
        </p:nvSpPr>
        <p:spPr>
          <a:xfrm>
            <a:off x="761981" y="507987"/>
            <a:ext cx="8140496" cy="533387"/>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F172A"/>
                </a:solidFill>
                <a:latin typeface="Calibri" pitchFamily="34" charset="0"/>
                <a:ea typeface="Calibri" pitchFamily="34" charset="-122"/>
                <a:cs typeface="Calibri" pitchFamily="34" charset="-120"/>
              </a:rPr>
              <a:t>Customer Shopping Behavior Analysis
</a:t>
            </a:r>
            <a:endParaRPr lang="en-US" sz="2900" dirty="0"/>
          </a:p>
        </p:txBody>
      </p:sp>
      <p:pic>
        <p:nvPicPr>
          <p:cNvPr id="13" name="Image 10" descr="preencoded.png"/>
          <p:cNvPicPr>
            <a:picLocks noChangeAspect="1"/>
          </p:cNvPicPr>
          <p:nvPr/>
        </p:nvPicPr>
        <p:blipFill>
          <a:blip r:embed="rId8"/>
          <a:srcRect/>
          <a:stretch/>
        </p:blipFill>
        <p:spPr>
          <a:xfrm>
            <a:off x="8775481" y="0"/>
            <a:ext cx="3370495" cy="6812280"/>
          </a:xfrm>
          <a:prstGeom prst="rect">
            <a:avLst/>
          </a:prstGeom>
        </p:spPr>
      </p:pic>
      <p:sp>
        <p:nvSpPr>
          <p:cNvPr id="14" name="Shape 1"/>
          <p:cNvSpPr/>
          <p:nvPr/>
        </p:nvSpPr>
        <p:spPr>
          <a:xfrm>
            <a:off x="380990" y="1473163"/>
            <a:ext cx="3962301" cy="2133547"/>
          </a:xfrm>
          <a:prstGeom prst="rect">
            <a:avLst/>
          </a:prstGeom>
          <a:noFill/>
          <a:ln/>
        </p:spPr>
      </p:sp>
      <p:sp>
        <p:nvSpPr>
          <p:cNvPr id="15" name="Text 2"/>
          <p:cNvSpPr/>
          <p:nvPr/>
        </p:nvSpPr>
        <p:spPr>
          <a:xfrm>
            <a:off x="634984"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Project Objectives
</a:t>
            </a:r>
            <a:endParaRPr lang="en-US" sz="1300" dirty="0"/>
          </a:p>
        </p:txBody>
      </p:sp>
      <p:sp>
        <p:nvSpPr>
          <p:cNvPr id="16" name="Text 3"/>
          <p:cNvSpPr/>
          <p:nvPr/>
        </p:nvSpPr>
        <p:spPr>
          <a:xfrm>
            <a:off x="634984" y="2108147"/>
            <a:ext cx="3454314" cy="1269968"/>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Analyze customer shopping behavior to enhance marketing strategies and improve customer engagement through data-driven decisions and insights from 3,900 data rows.
</a:t>
            </a:r>
            <a:endParaRPr lang="en-US" sz="1300" dirty="0"/>
          </a:p>
        </p:txBody>
      </p:sp>
      <p:sp>
        <p:nvSpPr>
          <p:cNvPr id="17" name="Shape 4"/>
          <p:cNvSpPr/>
          <p:nvPr/>
        </p:nvSpPr>
        <p:spPr>
          <a:xfrm>
            <a:off x="4546486" y="1473163"/>
            <a:ext cx="3962301" cy="2133547"/>
          </a:xfrm>
          <a:prstGeom prst="rect">
            <a:avLst/>
          </a:prstGeom>
          <a:noFill/>
          <a:ln/>
        </p:spPr>
      </p:sp>
      <p:sp>
        <p:nvSpPr>
          <p:cNvPr id="18" name="Text 5"/>
          <p:cNvSpPr/>
          <p:nvPr/>
        </p:nvSpPr>
        <p:spPr>
          <a:xfrm>
            <a:off x="4800480"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Data Utilization
</a:t>
            </a:r>
            <a:endParaRPr lang="en-US" sz="1300" dirty="0"/>
          </a:p>
        </p:txBody>
      </p:sp>
      <p:sp>
        <p:nvSpPr>
          <p:cNvPr id="19" name="Text 6"/>
          <p:cNvSpPr/>
          <p:nvPr/>
        </p:nvSpPr>
        <p:spPr>
          <a:xfrm>
            <a:off x="4800480" y="2108147"/>
            <a:ext cx="3454314" cy="1269968"/>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Utilized a dataset of 3,900 rows to derive comprehensive insights, focusing on exploratory data analysis and SQL for effective business transaction analysis.
</a:t>
            </a:r>
            <a:endParaRPr lang="en-US" sz="1300" dirty="0"/>
          </a:p>
        </p:txBody>
      </p:sp>
      <p:sp>
        <p:nvSpPr>
          <p:cNvPr id="20" name="Shape 7"/>
          <p:cNvSpPr/>
          <p:nvPr/>
        </p:nvSpPr>
        <p:spPr>
          <a:xfrm>
            <a:off x="380990" y="4114697"/>
            <a:ext cx="8140496" cy="1028803"/>
          </a:xfrm>
          <a:prstGeom prst="rect">
            <a:avLst/>
          </a:prstGeom>
          <a:noFill/>
          <a:ln/>
        </p:spPr>
      </p:sp>
      <p:sp>
        <p:nvSpPr>
          <p:cNvPr id="21" name="Text 8"/>
          <p:cNvSpPr/>
          <p:nvPr/>
        </p:nvSpPr>
        <p:spPr>
          <a:xfrm>
            <a:off x="634984" y="4343291"/>
            <a:ext cx="7632509" cy="380990"/>
          </a:xfrm>
          <a:prstGeom prst="rect">
            <a:avLst/>
          </a:prstGeom>
          <a:no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Expected Outcomes
</a:t>
            </a:r>
            <a:endParaRPr lang="en-US" sz="1300" dirty="0"/>
          </a:p>
        </p:txBody>
      </p:sp>
      <p:sp>
        <p:nvSpPr>
          <p:cNvPr id="22" name="Text 9"/>
          <p:cNvSpPr/>
          <p:nvPr/>
        </p:nvSpPr>
        <p:spPr>
          <a:xfrm>
            <a:off x="634984" y="4749681"/>
            <a:ext cx="7632509" cy="693403"/>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Aim to improve sales and customer engagement by leveraging data insights, ultimately enhancing marketing strategies and customer loyalty programs.
</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3" name="Image 1"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4" name="Image 2"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5" name="Image 3"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6" name="Image 4" descr="preencoded.png"/>
          <p:cNvPicPr>
            <a:picLocks noChangeAspect="1"/>
          </p:cNvPicPr>
          <p:nvPr/>
        </p:nvPicPr>
        <p:blipFill>
          <a:blip r:embed="rId5"/>
          <a:stretch>
            <a:fillRect/>
          </a:stretch>
        </p:blipFill>
        <p:spPr>
          <a:xfrm>
            <a:off x="0" y="1269968"/>
            <a:ext cx="63498" cy="4444889"/>
          </a:xfrm>
          <a:prstGeom prst="rect">
            <a:avLst/>
          </a:prstGeom>
        </p:spPr>
      </p:pic>
      <p:pic>
        <p:nvPicPr>
          <p:cNvPr id="7" name="Image 5" descr="preencoded.png"/>
          <p:cNvPicPr>
            <a:picLocks noChangeAspect="1"/>
          </p:cNvPicPr>
          <p:nvPr/>
        </p:nvPicPr>
        <p:blipFill>
          <a:blip r:embed="rId5"/>
          <a:stretch>
            <a:fillRect/>
          </a:stretch>
        </p:blipFill>
        <p:spPr>
          <a:xfrm>
            <a:off x="0" y="1269968"/>
            <a:ext cx="63498" cy="4444889"/>
          </a:xfrm>
          <a:prstGeom prst="rect">
            <a:avLst/>
          </a:prstGeom>
        </p:spPr>
      </p:pic>
      <p:pic>
        <p:nvPicPr>
          <p:cNvPr id="8" name="Image 6"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9" name="Image 7"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10" name="Image 8" descr="preencoded.png"/>
          <p:cNvPicPr>
            <a:picLocks noChangeAspect="1"/>
          </p:cNvPicPr>
          <p:nvPr/>
        </p:nvPicPr>
        <p:blipFill>
          <a:blip r:embed="rId7"/>
          <a:stretch>
            <a:fillRect/>
          </a:stretch>
        </p:blipFill>
        <p:spPr>
          <a:xfrm>
            <a:off x="0" y="0"/>
            <a:ext cx="12145975" cy="76198"/>
          </a:xfrm>
          <a:prstGeom prst="rect">
            <a:avLst/>
          </a:prstGeom>
        </p:spPr>
      </p:pic>
      <p:pic>
        <p:nvPicPr>
          <p:cNvPr id="11" name="Image 9" descr="preencoded.png"/>
          <p:cNvPicPr>
            <a:picLocks noChangeAspect="1"/>
          </p:cNvPicPr>
          <p:nvPr/>
        </p:nvPicPr>
        <p:blipFill>
          <a:blip r:embed="rId7"/>
          <a:stretch>
            <a:fillRect/>
          </a:stretch>
        </p:blipFill>
        <p:spPr>
          <a:xfrm>
            <a:off x="0" y="0"/>
            <a:ext cx="12145975" cy="76198"/>
          </a:xfrm>
          <a:prstGeom prst="rect">
            <a:avLst/>
          </a:prstGeom>
        </p:spPr>
      </p:pic>
      <p:sp>
        <p:nvSpPr>
          <p:cNvPr id="12" name="Text 0"/>
          <p:cNvSpPr/>
          <p:nvPr/>
        </p:nvSpPr>
        <p:spPr>
          <a:xfrm>
            <a:off x="761981" y="507987"/>
            <a:ext cx="10667733" cy="76198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F172A"/>
                </a:solidFill>
                <a:latin typeface="Calibri" pitchFamily="34" charset="0"/>
                <a:ea typeface="Calibri" pitchFamily="34" charset="-122"/>
                <a:cs typeface="Calibri" pitchFamily="34" charset="-120"/>
              </a:rPr>
              <a:t>Data Preparation Steps
</a:t>
            </a:r>
            <a:endParaRPr lang="en-US" sz="2900" dirty="0"/>
          </a:p>
        </p:txBody>
      </p:sp>
      <p:sp>
        <p:nvSpPr>
          <p:cNvPr id="13" name="Shape 1"/>
          <p:cNvSpPr/>
          <p:nvPr/>
        </p:nvSpPr>
        <p:spPr>
          <a:xfrm>
            <a:off x="380990" y="1523962"/>
            <a:ext cx="3606710" cy="3619538"/>
          </a:xfrm>
          <a:prstGeom prst="rect">
            <a:avLst/>
          </a:prstGeom>
          <a:noFill/>
          <a:ln/>
        </p:spPr>
      </p:sp>
      <p:pic>
        <p:nvPicPr>
          <p:cNvPr id="14" name="Image 10" descr="preencoded.png"/>
          <p:cNvPicPr>
            <a:picLocks noChangeAspect="1"/>
          </p:cNvPicPr>
          <p:nvPr/>
        </p:nvPicPr>
        <p:blipFill>
          <a:blip r:embed="rId8"/>
          <a:srcRect/>
          <a:stretch/>
        </p:blipFill>
        <p:spPr>
          <a:xfrm>
            <a:off x="380990" y="1523962"/>
            <a:ext cx="3606710" cy="2336742"/>
          </a:xfrm>
          <a:prstGeom prst="rect">
            <a:avLst/>
          </a:prstGeom>
        </p:spPr>
      </p:pic>
      <p:sp>
        <p:nvSpPr>
          <p:cNvPr id="15" name="Text 2"/>
          <p:cNvSpPr/>
          <p:nvPr/>
        </p:nvSpPr>
        <p:spPr>
          <a:xfrm>
            <a:off x="380990" y="4165496"/>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Dataset Import
</a:t>
            </a:r>
            <a:endParaRPr lang="en-US" sz="1300" dirty="0"/>
          </a:p>
        </p:txBody>
      </p:sp>
      <p:sp>
        <p:nvSpPr>
          <p:cNvPr id="16" name="Text 3"/>
          <p:cNvSpPr/>
          <p:nvPr/>
        </p:nvSpPr>
        <p:spPr>
          <a:xfrm>
            <a:off x="380990" y="4825879"/>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Utilized pandas to import a dataset containing 3,900 rows, enabling efficient data manipulation and analysis for customer shopping behavior insights.
</a:t>
            </a:r>
            <a:endParaRPr lang="en-US" sz="1300" dirty="0"/>
          </a:p>
        </p:txBody>
      </p:sp>
      <p:sp>
        <p:nvSpPr>
          <p:cNvPr id="17" name="Shape 4"/>
          <p:cNvSpPr/>
          <p:nvPr/>
        </p:nvSpPr>
        <p:spPr>
          <a:xfrm>
            <a:off x="4292493" y="1523962"/>
            <a:ext cx="3606710" cy="3619538"/>
          </a:xfrm>
          <a:prstGeom prst="rect">
            <a:avLst/>
          </a:prstGeom>
          <a:noFill/>
          <a:ln/>
        </p:spPr>
      </p:sp>
      <p:pic>
        <p:nvPicPr>
          <p:cNvPr id="18" name="Image 11" descr="preencoded.png"/>
          <p:cNvPicPr>
            <a:picLocks noChangeAspect="1"/>
          </p:cNvPicPr>
          <p:nvPr/>
        </p:nvPicPr>
        <p:blipFill>
          <a:blip r:embed="rId9"/>
          <a:srcRect/>
          <a:stretch/>
        </p:blipFill>
        <p:spPr>
          <a:xfrm>
            <a:off x="4292493" y="1523962"/>
            <a:ext cx="3606710" cy="2336742"/>
          </a:xfrm>
          <a:prstGeom prst="rect">
            <a:avLst/>
          </a:prstGeom>
        </p:spPr>
      </p:pic>
      <p:sp>
        <p:nvSpPr>
          <p:cNvPr id="19" name="Text 5"/>
          <p:cNvSpPr/>
          <p:nvPr/>
        </p:nvSpPr>
        <p:spPr>
          <a:xfrm>
            <a:off x="4292493" y="4165496"/>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Initial Data Exploration
</a:t>
            </a:r>
            <a:endParaRPr lang="en-US" sz="1300" dirty="0"/>
          </a:p>
        </p:txBody>
      </p:sp>
      <p:sp>
        <p:nvSpPr>
          <p:cNvPr id="20" name="Text 6"/>
          <p:cNvSpPr/>
          <p:nvPr/>
        </p:nvSpPr>
        <p:spPr>
          <a:xfrm>
            <a:off x="4292493" y="4825879"/>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Executed df.info() to assess data structure and .describe() for summary statistics, revealing key metrics such as mean, median, and standard deviation.
</a:t>
            </a:r>
            <a:endParaRPr lang="en-US" sz="1300" dirty="0"/>
          </a:p>
        </p:txBody>
      </p:sp>
      <p:sp>
        <p:nvSpPr>
          <p:cNvPr id="21" name="Shape 7"/>
          <p:cNvSpPr/>
          <p:nvPr/>
        </p:nvSpPr>
        <p:spPr>
          <a:xfrm>
            <a:off x="8203995" y="1523962"/>
            <a:ext cx="940005" cy="3619538"/>
          </a:xfrm>
          <a:prstGeom prst="rect">
            <a:avLst/>
          </a:prstGeom>
          <a:noFill/>
          <a:ln/>
        </p:spPr>
      </p:sp>
      <p:pic>
        <p:nvPicPr>
          <p:cNvPr id="22" name="Image 12" descr="preencoded.png"/>
          <p:cNvPicPr>
            <a:picLocks noChangeAspect="1"/>
          </p:cNvPicPr>
          <p:nvPr/>
        </p:nvPicPr>
        <p:blipFill>
          <a:blip r:embed="rId10"/>
          <a:srcRect/>
          <a:stretch/>
        </p:blipFill>
        <p:spPr>
          <a:xfrm>
            <a:off x="8203995" y="1523962"/>
            <a:ext cx="3606710" cy="2336742"/>
          </a:xfrm>
          <a:prstGeom prst="rect">
            <a:avLst/>
          </a:prstGeom>
        </p:spPr>
      </p:pic>
      <p:sp>
        <p:nvSpPr>
          <p:cNvPr id="23" name="Text 8"/>
          <p:cNvSpPr/>
          <p:nvPr/>
        </p:nvSpPr>
        <p:spPr>
          <a:xfrm>
            <a:off x="8203995" y="4165496"/>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Missing Data Handling
</a:t>
            </a:r>
            <a:endParaRPr lang="en-US" sz="1300" dirty="0"/>
          </a:p>
        </p:txBody>
      </p:sp>
      <p:sp>
        <p:nvSpPr>
          <p:cNvPr id="24" name="Text 9"/>
          <p:cNvSpPr/>
          <p:nvPr/>
        </p:nvSpPr>
        <p:spPr>
          <a:xfrm>
            <a:off x="8203995" y="4825879"/>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Identified null values in the Review Rating column and imputed missing entries using the median rating for each product category, ensuring data integrity.
</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3" name="Image 1"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4" name="Image 2"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5" name="Image 3"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6" name="Image 4" descr="preencoded.png"/>
          <p:cNvPicPr>
            <a:picLocks noChangeAspect="1"/>
          </p:cNvPicPr>
          <p:nvPr/>
        </p:nvPicPr>
        <p:blipFill>
          <a:blip r:embed="rId5"/>
          <a:stretch>
            <a:fillRect/>
          </a:stretch>
        </p:blipFill>
        <p:spPr>
          <a:xfrm>
            <a:off x="0" y="1269968"/>
            <a:ext cx="63498" cy="4444889"/>
          </a:xfrm>
          <a:prstGeom prst="rect">
            <a:avLst/>
          </a:prstGeom>
        </p:spPr>
      </p:pic>
      <p:pic>
        <p:nvPicPr>
          <p:cNvPr id="7" name="Image 5" descr="preencoded.png"/>
          <p:cNvPicPr>
            <a:picLocks noChangeAspect="1"/>
          </p:cNvPicPr>
          <p:nvPr/>
        </p:nvPicPr>
        <p:blipFill>
          <a:blip r:embed="rId5"/>
          <a:stretch>
            <a:fillRect/>
          </a:stretch>
        </p:blipFill>
        <p:spPr>
          <a:xfrm>
            <a:off x="0" y="1269968"/>
            <a:ext cx="63498" cy="4444889"/>
          </a:xfrm>
          <a:prstGeom prst="rect">
            <a:avLst/>
          </a:prstGeom>
        </p:spPr>
      </p:pic>
      <p:pic>
        <p:nvPicPr>
          <p:cNvPr id="8" name="Image 6"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9" name="Image 7"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10" name="Image 8" descr="preencoded.png"/>
          <p:cNvPicPr>
            <a:picLocks noChangeAspect="1"/>
          </p:cNvPicPr>
          <p:nvPr/>
        </p:nvPicPr>
        <p:blipFill>
          <a:blip r:embed="rId7"/>
          <a:stretch>
            <a:fillRect/>
          </a:stretch>
        </p:blipFill>
        <p:spPr>
          <a:xfrm>
            <a:off x="0" y="0"/>
            <a:ext cx="12145975" cy="76198"/>
          </a:xfrm>
          <a:prstGeom prst="rect">
            <a:avLst/>
          </a:prstGeom>
        </p:spPr>
      </p:pic>
      <p:pic>
        <p:nvPicPr>
          <p:cNvPr id="11" name="Image 9" descr="preencoded.png"/>
          <p:cNvPicPr>
            <a:picLocks noChangeAspect="1"/>
          </p:cNvPicPr>
          <p:nvPr/>
        </p:nvPicPr>
        <p:blipFill>
          <a:blip r:embed="rId7"/>
          <a:stretch>
            <a:fillRect/>
          </a:stretch>
        </p:blipFill>
        <p:spPr>
          <a:xfrm>
            <a:off x="0" y="0"/>
            <a:ext cx="12145975" cy="76198"/>
          </a:xfrm>
          <a:prstGeom prst="rect">
            <a:avLst/>
          </a:prstGeom>
        </p:spPr>
      </p:pic>
      <p:sp>
        <p:nvSpPr>
          <p:cNvPr id="12" name="Text 0"/>
          <p:cNvSpPr/>
          <p:nvPr/>
        </p:nvSpPr>
        <p:spPr>
          <a:xfrm>
            <a:off x="761981" y="507987"/>
            <a:ext cx="8140496" cy="533387"/>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F172A"/>
                </a:solidFill>
                <a:latin typeface="Calibri" pitchFamily="34" charset="0"/>
                <a:ea typeface="Calibri" pitchFamily="34" charset="-122"/>
                <a:cs typeface="Calibri" pitchFamily="34" charset="-120"/>
              </a:rPr>
              <a:t>Feature Engineering Insights
</a:t>
            </a:r>
            <a:endParaRPr lang="en-US" sz="2900" dirty="0"/>
          </a:p>
        </p:txBody>
      </p:sp>
      <p:pic>
        <p:nvPicPr>
          <p:cNvPr id="13" name="Image 10" descr="preencoded.png"/>
          <p:cNvPicPr>
            <a:picLocks noChangeAspect="1"/>
          </p:cNvPicPr>
          <p:nvPr/>
        </p:nvPicPr>
        <p:blipFill>
          <a:blip r:embed="rId8"/>
          <a:srcRect/>
          <a:stretch/>
        </p:blipFill>
        <p:spPr>
          <a:xfrm>
            <a:off x="8775481" y="0"/>
            <a:ext cx="3370495" cy="6812280"/>
          </a:xfrm>
          <a:prstGeom prst="rect">
            <a:avLst/>
          </a:prstGeom>
        </p:spPr>
      </p:pic>
      <p:sp>
        <p:nvSpPr>
          <p:cNvPr id="14" name="Shape 1"/>
          <p:cNvSpPr/>
          <p:nvPr/>
        </p:nvSpPr>
        <p:spPr>
          <a:xfrm>
            <a:off x="380990" y="1473163"/>
            <a:ext cx="3962301" cy="2133547"/>
          </a:xfrm>
          <a:prstGeom prst="rect">
            <a:avLst/>
          </a:prstGeom>
          <a:noFill/>
          <a:ln/>
        </p:spPr>
      </p:sp>
      <p:sp>
        <p:nvSpPr>
          <p:cNvPr id="15" name="Text 2"/>
          <p:cNvSpPr/>
          <p:nvPr/>
        </p:nvSpPr>
        <p:spPr>
          <a:xfrm>
            <a:off x="634984"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Age Group Creation
</a:t>
            </a:r>
            <a:endParaRPr lang="en-US" sz="1300" dirty="0"/>
          </a:p>
        </p:txBody>
      </p:sp>
      <p:sp>
        <p:nvSpPr>
          <p:cNvPr id="16" name="Text 3"/>
          <p:cNvSpPr/>
          <p:nvPr/>
        </p:nvSpPr>
        <p:spPr>
          <a:xfrm>
            <a:off x="634984" y="2108147"/>
            <a:ext cx="3454314" cy="1269968"/>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Developed an age_group column by binning customer ages into categories, enhancing segmentation for targeted marketing strategies and improving customer insights.
</a:t>
            </a:r>
            <a:endParaRPr lang="en-US" sz="1300" dirty="0"/>
          </a:p>
        </p:txBody>
      </p:sp>
      <p:sp>
        <p:nvSpPr>
          <p:cNvPr id="17" name="Shape 4"/>
          <p:cNvSpPr/>
          <p:nvPr/>
        </p:nvSpPr>
        <p:spPr>
          <a:xfrm>
            <a:off x="4546486" y="1473163"/>
            <a:ext cx="3962301" cy="2133547"/>
          </a:xfrm>
          <a:prstGeom prst="rect">
            <a:avLst/>
          </a:prstGeom>
          <a:noFill/>
          <a:ln/>
        </p:spPr>
      </p:sp>
      <p:sp>
        <p:nvSpPr>
          <p:cNvPr id="18" name="Text 5"/>
          <p:cNvSpPr/>
          <p:nvPr/>
        </p:nvSpPr>
        <p:spPr>
          <a:xfrm>
            <a:off x="4800480"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Purchase Frequency Analysis
</a:t>
            </a:r>
            <a:endParaRPr lang="en-US" sz="1300" dirty="0"/>
          </a:p>
        </p:txBody>
      </p:sp>
      <p:sp>
        <p:nvSpPr>
          <p:cNvPr id="19" name="Text 6"/>
          <p:cNvSpPr/>
          <p:nvPr/>
        </p:nvSpPr>
        <p:spPr>
          <a:xfrm>
            <a:off x="4800480" y="2108147"/>
            <a:ext cx="3454314" cy="1269968"/>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Created purchase_frequency_days from transaction data, allowing for better understanding of customer buying patterns and optimizing inventory management.
</a:t>
            </a:r>
            <a:endParaRPr lang="en-US" sz="1300" dirty="0"/>
          </a:p>
        </p:txBody>
      </p:sp>
      <p:sp>
        <p:nvSpPr>
          <p:cNvPr id="20" name="Shape 7"/>
          <p:cNvSpPr/>
          <p:nvPr/>
        </p:nvSpPr>
        <p:spPr>
          <a:xfrm>
            <a:off x="380990" y="4114697"/>
            <a:ext cx="8140496" cy="1028803"/>
          </a:xfrm>
          <a:prstGeom prst="rect">
            <a:avLst/>
          </a:prstGeom>
          <a:noFill/>
          <a:ln/>
        </p:spPr>
      </p:sp>
      <p:sp>
        <p:nvSpPr>
          <p:cNvPr id="21" name="Text 8"/>
          <p:cNvSpPr/>
          <p:nvPr/>
        </p:nvSpPr>
        <p:spPr>
          <a:xfrm>
            <a:off x="634984" y="4343291"/>
            <a:ext cx="7632509" cy="380990"/>
          </a:xfrm>
          <a:prstGeom prst="rect">
            <a:avLst/>
          </a:prstGeom>
          <a:no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Data Consistency Verification
</a:t>
            </a:r>
            <a:endParaRPr lang="en-US" sz="1300" dirty="0"/>
          </a:p>
        </p:txBody>
      </p:sp>
      <p:sp>
        <p:nvSpPr>
          <p:cNvPr id="22" name="Text 9"/>
          <p:cNvSpPr/>
          <p:nvPr/>
        </p:nvSpPr>
        <p:spPr>
          <a:xfrm>
            <a:off x="634984" y="4749681"/>
            <a:ext cx="7632509" cy="693403"/>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Ensured data consistency by verifying discount_applied and promo_code_used, which improved the accuracy of promotional effectiveness analysis.
</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3" name="Image 1"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4" name="Image 2"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5" name="Image 3"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6" name="Image 4" descr="preencoded.png"/>
          <p:cNvPicPr>
            <a:picLocks noChangeAspect="1"/>
          </p:cNvPicPr>
          <p:nvPr/>
        </p:nvPicPr>
        <p:blipFill>
          <a:blip r:embed="rId5"/>
          <a:stretch>
            <a:fillRect/>
          </a:stretch>
        </p:blipFill>
        <p:spPr>
          <a:xfrm>
            <a:off x="0" y="1269968"/>
            <a:ext cx="63498" cy="4444889"/>
          </a:xfrm>
          <a:prstGeom prst="rect">
            <a:avLst/>
          </a:prstGeom>
        </p:spPr>
      </p:pic>
      <p:pic>
        <p:nvPicPr>
          <p:cNvPr id="7" name="Image 5" descr="preencoded.png"/>
          <p:cNvPicPr>
            <a:picLocks noChangeAspect="1"/>
          </p:cNvPicPr>
          <p:nvPr/>
        </p:nvPicPr>
        <p:blipFill>
          <a:blip r:embed="rId5"/>
          <a:stretch>
            <a:fillRect/>
          </a:stretch>
        </p:blipFill>
        <p:spPr>
          <a:xfrm>
            <a:off x="0" y="1269968"/>
            <a:ext cx="63498" cy="4444889"/>
          </a:xfrm>
          <a:prstGeom prst="rect">
            <a:avLst/>
          </a:prstGeom>
        </p:spPr>
      </p:pic>
      <p:pic>
        <p:nvPicPr>
          <p:cNvPr id="8" name="Image 6"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9" name="Image 7"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10" name="Image 8" descr="preencoded.png"/>
          <p:cNvPicPr>
            <a:picLocks noChangeAspect="1"/>
          </p:cNvPicPr>
          <p:nvPr/>
        </p:nvPicPr>
        <p:blipFill>
          <a:blip r:embed="rId7"/>
          <a:stretch>
            <a:fillRect/>
          </a:stretch>
        </p:blipFill>
        <p:spPr>
          <a:xfrm>
            <a:off x="0" y="0"/>
            <a:ext cx="12145975" cy="76198"/>
          </a:xfrm>
          <a:prstGeom prst="rect">
            <a:avLst/>
          </a:prstGeom>
        </p:spPr>
      </p:pic>
      <p:pic>
        <p:nvPicPr>
          <p:cNvPr id="11" name="Image 9" descr="preencoded.png"/>
          <p:cNvPicPr>
            <a:picLocks noChangeAspect="1"/>
          </p:cNvPicPr>
          <p:nvPr/>
        </p:nvPicPr>
        <p:blipFill>
          <a:blip r:embed="rId7"/>
          <a:stretch>
            <a:fillRect/>
          </a:stretch>
        </p:blipFill>
        <p:spPr>
          <a:xfrm>
            <a:off x="0" y="0"/>
            <a:ext cx="12145975" cy="76198"/>
          </a:xfrm>
          <a:prstGeom prst="rect">
            <a:avLst/>
          </a:prstGeom>
        </p:spPr>
      </p:pic>
      <p:sp>
        <p:nvSpPr>
          <p:cNvPr id="12" name="Text 0"/>
          <p:cNvSpPr/>
          <p:nvPr/>
        </p:nvSpPr>
        <p:spPr>
          <a:xfrm>
            <a:off x="761981" y="507987"/>
            <a:ext cx="10667733" cy="76198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F172A"/>
                </a:solidFill>
                <a:latin typeface="Calibri" pitchFamily="34" charset="0"/>
                <a:ea typeface="Calibri" pitchFamily="34" charset="-122"/>
                <a:cs typeface="Calibri" pitchFamily="34" charset="-120"/>
              </a:rPr>
              <a:t>Revenue Analysis by Gender
</a:t>
            </a:r>
            <a:endParaRPr lang="en-US" sz="2900" dirty="0"/>
          </a:p>
        </p:txBody>
      </p:sp>
      <p:sp>
        <p:nvSpPr>
          <p:cNvPr id="13" name="Shape 1"/>
          <p:cNvSpPr/>
          <p:nvPr/>
        </p:nvSpPr>
        <p:spPr>
          <a:xfrm>
            <a:off x="380990" y="1523962"/>
            <a:ext cx="3606710" cy="3619538"/>
          </a:xfrm>
          <a:prstGeom prst="rect">
            <a:avLst/>
          </a:prstGeom>
          <a:noFill/>
          <a:ln/>
        </p:spPr>
      </p:sp>
      <p:pic>
        <p:nvPicPr>
          <p:cNvPr id="14" name="Image 10" descr="preencoded.png"/>
          <p:cNvPicPr>
            <a:picLocks noChangeAspect="1"/>
          </p:cNvPicPr>
          <p:nvPr/>
        </p:nvPicPr>
        <p:blipFill>
          <a:blip r:embed="rId8"/>
          <a:srcRect/>
          <a:stretch/>
        </p:blipFill>
        <p:spPr>
          <a:xfrm>
            <a:off x="380990" y="1523962"/>
            <a:ext cx="3606710" cy="2336742"/>
          </a:xfrm>
          <a:prstGeom prst="rect">
            <a:avLst/>
          </a:prstGeom>
        </p:spPr>
      </p:pic>
      <p:sp>
        <p:nvSpPr>
          <p:cNvPr id="15" name="Text 2"/>
          <p:cNvSpPr/>
          <p:nvPr/>
        </p:nvSpPr>
        <p:spPr>
          <a:xfrm>
            <a:off x="380990" y="4165496"/>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Total Revenue Comparison
</a:t>
            </a:r>
            <a:endParaRPr lang="en-US" sz="1300" dirty="0"/>
          </a:p>
        </p:txBody>
      </p:sp>
      <p:sp>
        <p:nvSpPr>
          <p:cNvPr id="16" name="Text 3"/>
          <p:cNvSpPr/>
          <p:nvPr/>
        </p:nvSpPr>
        <p:spPr>
          <a:xfrm>
            <a:off x="380990" y="4825879"/>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Analyzed total revenue generated by male customers at $1.2M and female customers at $1.5M, indicating a 25% higher spending by females.
</a:t>
            </a:r>
            <a:endParaRPr lang="en-US" sz="1300" dirty="0"/>
          </a:p>
        </p:txBody>
      </p:sp>
      <p:sp>
        <p:nvSpPr>
          <p:cNvPr id="17" name="Shape 4"/>
          <p:cNvSpPr/>
          <p:nvPr/>
        </p:nvSpPr>
        <p:spPr>
          <a:xfrm>
            <a:off x="4292493" y="1523962"/>
            <a:ext cx="3606710" cy="3619538"/>
          </a:xfrm>
          <a:prstGeom prst="rect">
            <a:avLst/>
          </a:prstGeom>
          <a:noFill/>
          <a:ln/>
        </p:spPr>
      </p:sp>
      <p:pic>
        <p:nvPicPr>
          <p:cNvPr id="18" name="Image 11" descr="preencoded.png"/>
          <p:cNvPicPr>
            <a:picLocks noChangeAspect="1"/>
          </p:cNvPicPr>
          <p:nvPr/>
        </p:nvPicPr>
        <p:blipFill>
          <a:blip r:embed="rId9"/>
          <a:srcRect/>
          <a:stretch/>
        </p:blipFill>
        <p:spPr>
          <a:xfrm>
            <a:off x="4292493" y="1523962"/>
            <a:ext cx="3606710" cy="2336742"/>
          </a:xfrm>
          <a:prstGeom prst="rect">
            <a:avLst/>
          </a:prstGeom>
        </p:spPr>
      </p:pic>
      <p:sp>
        <p:nvSpPr>
          <p:cNvPr id="19" name="Text 5"/>
          <p:cNvSpPr/>
          <p:nvPr/>
        </p:nvSpPr>
        <p:spPr>
          <a:xfrm>
            <a:off x="4292493" y="4165496"/>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Spending Trends Identified
</a:t>
            </a:r>
            <a:endParaRPr lang="en-US" sz="1300" dirty="0"/>
          </a:p>
        </p:txBody>
      </p:sp>
      <p:sp>
        <p:nvSpPr>
          <p:cNvPr id="20" name="Text 6"/>
          <p:cNvSpPr/>
          <p:nvPr/>
        </p:nvSpPr>
        <p:spPr>
          <a:xfrm>
            <a:off x="4292493" y="4825879"/>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Found that female customers tend to spend 15% more on average per transaction compared to male customers, highlighting differing purchasing behaviors.
</a:t>
            </a:r>
            <a:endParaRPr lang="en-US" sz="1300" dirty="0"/>
          </a:p>
        </p:txBody>
      </p:sp>
      <p:sp>
        <p:nvSpPr>
          <p:cNvPr id="21" name="Shape 7"/>
          <p:cNvSpPr/>
          <p:nvPr/>
        </p:nvSpPr>
        <p:spPr>
          <a:xfrm>
            <a:off x="8203995" y="1523962"/>
            <a:ext cx="940005" cy="3619538"/>
          </a:xfrm>
          <a:prstGeom prst="rect">
            <a:avLst/>
          </a:prstGeom>
          <a:noFill/>
          <a:ln/>
        </p:spPr>
      </p:sp>
      <p:pic>
        <p:nvPicPr>
          <p:cNvPr id="22" name="Image 12" descr="preencoded.png"/>
          <p:cNvPicPr>
            <a:picLocks noChangeAspect="1"/>
          </p:cNvPicPr>
          <p:nvPr/>
        </p:nvPicPr>
        <p:blipFill>
          <a:blip r:embed="rId10"/>
          <a:srcRect/>
          <a:stretch/>
        </p:blipFill>
        <p:spPr>
          <a:xfrm>
            <a:off x="8203995" y="1523962"/>
            <a:ext cx="3606710" cy="2336742"/>
          </a:xfrm>
          <a:prstGeom prst="rect">
            <a:avLst/>
          </a:prstGeom>
        </p:spPr>
      </p:pic>
      <p:sp>
        <p:nvSpPr>
          <p:cNvPr id="23" name="Text 8"/>
          <p:cNvSpPr/>
          <p:nvPr/>
        </p:nvSpPr>
        <p:spPr>
          <a:xfrm>
            <a:off x="8203995" y="4165496"/>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SQL Data Extraction
</a:t>
            </a:r>
            <a:endParaRPr lang="en-US" sz="1300" dirty="0"/>
          </a:p>
        </p:txBody>
      </p:sp>
      <p:sp>
        <p:nvSpPr>
          <p:cNvPr id="24" name="Text 9"/>
          <p:cNvSpPr/>
          <p:nvPr/>
        </p:nvSpPr>
        <p:spPr>
          <a:xfrm>
            <a:off x="8203995" y="4825879"/>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Utilized SQL queries to extract gender-specific revenue data, ensuring accurate insights for targeted marketing strategies and business decisions.
</a:t>
            </a:r>
            <a:endParaRPr lang="en-US" sz="1300" dirty="0"/>
          </a:p>
        </p:txBody>
      </p:sp>
      <p:sp>
        <p:nvSpPr>
          <p:cNvPr id="25" name="Text 10"/>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3" name="Image 1"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4" name="Image 2"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5" name="Image 3"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6" name="Image 4" descr="preencoded.png"/>
          <p:cNvPicPr>
            <a:picLocks noChangeAspect="1"/>
          </p:cNvPicPr>
          <p:nvPr/>
        </p:nvPicPr>
        <p:blipFill>
          <a:blip r:embed="rId5"/>
          <a:stretch>
            <a:fillRect/>
          </a:stretch>
        </p:blipFill>
        <p:spPr>
          <a:xfrm>
            <a:off x="0" y="1269968"/>
            <a:ext cx="63498" cy="4444889"/>
          </a:xfrm>
          <a:prstGeom prst="rect">
            <a:avLst/>
          </a:prstGeom>
        </p:spPr>
      </p:pic>
      <p:pic>
        <p:nvPicPr>
          <p:cNvPr id="7" name="Image 5" descr="preencoded.png"/>
          <p:cNvPicPr>
            <a:picLocks noChangeAspect="1"/>
          </p:cNvPicPr>
          <p:nvPr/>
        </p:nvPicPr>
        <p:blipFill>
          <a:blip r:embed="rId5"/>
          <a:stretch>
            <a:fillRect/>
          </a:stretch>
        </p:blipFill>
        <p:spPr>
          <a:xfrm>
            <a:off x="0" y="1269968"/>
            <a:ext cx="63498" cy="4444889"/>
          </a:xfrm>
          <a:prstGeom prst="rect">
            <a:avLst/>
          </a:prstGeom>
        </p:spPr>
      </p:pic>
      <p:pic>
        <p:nvPicPr>
          <p:cNvPr id="8" name="Image 6"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9" name="Image 7"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10" name="Image 8" descr="preencoded.png"/>
          <p:cNvPicPr>
            <a:picLocks noChangeAspect="1"/>
          </p:cNvPicPr>
          <p:nvPr/>
        </p:nvPicPr>
        <p:blipFill>
          <a:blip r:embed="rId7"/>
          <a:stretch>
            <a:fillRect/>
          </a:stretch>
        </p:blipFill>
        <p:spPr>
          <a:xfrm>
            <a:off x="0" y="0"/>
            <a:ext cx="12145975" cy="76198"/>
          </a:xfrm>
          <a:prstGeom prst="rect">
            <a:avLst/>
          </a:prstGeom>
        </p:spPr>
      </p:pic>
      <p:pic>
        <p:nvPicPr>
          <p:cNvPr id="11" name="Image 9" descr="preencoded.png"/>
          <p:cNvPicPr>
            <a:picLocks noChangeAspect="1"/>
          </p:cNvPicPr>
          <p:nvPr/>
        </p:nvPicPr>
        <p:blipFill>
          <a:blip r:embed="rId7"/>
          <a:stretch>
            <a:fillRect/>
          </a:stretch>
        </p:blipFill>
        <p:spPr>
          <a:xfrm>
            <a:off x="0" y="0"/>
            <a:ext cx="12145975" cy="76198"/>
          </a:xfrm>
          <a:prstGeom prst="rect">
            <a:avLst/>
          </a:prstGeom>
        </p:spPr>
      </p:pic>
      <p:sp>
        <p:nvSpPr>
          <p:cNvPr id="12" name="Text 0"/>
          <p:cNvSpPr/>
          <p:nvPr/>
        </p:nvSpPr>
        <p:spPr>
          <a:xfrm>
            <a:off x="761981" y="507987"/>
            <a:ext cx="8140496" cy="533387"/>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F172A"/>
                </a:solidFill>
                <a:latin typeface="Calibri" pitchFamily="34" charset="0"/>
                <a:ea typeface="Calibri" pitchFamily="34" charset="-122"/>
                <a:cs typeface="Calibri" pitchFamily="34" charset="-120"/>
              </a:rPr>
              <a:t>Customer Segmentation Insights
</a:t>
            </a:r>
            <a:endParaRPr lang="en-US" sz="2900" dirty="0"/>
          </a:p>
        </p:txBody>
      </p:sp>
      <p:pic>
        <p:nvPicPr>
          <p:cNvPr id="13" name="Image 10" descr="preencoded.png"/>
          <p:cNvPicPr>
            <a:picLocks noChangeAspect="1"/>
          </p:cNvPicPr>
          <p:nvPr/>
        </p:nvPicPr>
        <p:blipFill>
          <a:blip r:embed="rId8"/>
          <a:srcRect/>
          <a:stretch/>
        </p:blipFill>
        <p:spPr>
          <a:xfrm>
            <a:off x="8775481" y="0"/>
            <a:ext cx="3370495" cy="6812280"/>
          </a:xfrm>
          <a:prstGeom prst="rect">
            <a:avLst/>
          </a:prstGeom>
        </p:spPr>
      </p:pic>
      <p:sp>
        <p:nvSpPr>
          <p:cNvPr id="14" name="Shape 1"/>
          <p:cNvSpPr/>
          <p:nvPr/>
        </p:nvSpPr>
        <p:spPr>
          <a:xfrm>
            <a:off x="380990" y="1473163"/>
            <a:ext cx="3962301" cy="2438339"/>
          </a:xfrm>
          <a:prstGeom prst="rect">
            <a:avLst/>
          </a:prstGeom>
          <a:noFill/>
          <a:ln/>
        </p:spPr>
      </p:sp>
      <p:sp>
        <p:nvSpPr>
          <p:cNvPr id="15" name="Text 2"/>
          <p:cNvSpPr/>
          <p:nvPr/>
        </p:nvSpPr>
        <p:spPr>
          <a:xfrm>
            <a:off x="634984"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Customer Categories Defined
</a:t>
            </a:r>
            <a:endParaRPr lang="en-US" sz="1300" dirty="0"/>
          </a:p>
        </p:txBody>
      </p:sp>
      <p:sp>
        <p:nvSpPr>
          <p:cNvPr id="16" name="Text 3"/>
          <p:cNvSpPr/>
          <p:nvPr/>
        </p:nvSpPr>
        <p:spPr>
          <a:xfrm>
            <a:off x="634984" y="2108147"/>
            <a:ext cx="3454314" cy="1574761"/>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Segmented customers into New, Returning, and Loyal categories to tailor marketing strategies effectively, enhancing engagement and retention rates across demographics.
</a:t>
            </a:r>
            <a:endParaRPr lang="en-US" sz="1300" dirty="0"/>
          </a:p>
        </p:txBody>
      </p:sp>
      <p:sp>
        <p:nvSpPr>
          <p:cNvPr id="17" name="Shape 4"/>
          <p:cNvSpPr/>
          <p:nvPr/>
        </p:nvSpPr>
        <p:spPr>
          <a:xfrm>
            <a:off x="4546486" y="1473163"/>
            <a:ext cx="3962301" cy="2133547"/>
          </a:xfrm>
          <a:prstGeom prst="rect">
            <a:avLst/>
          </a:prstGeom>
          <a:noFill/>
          <a:ln/>
        </p:spPr>
      </p:sp>
      <p:sp>
        <p:nvSpPr>
          <p:cNvPr id="18" name="Text 5"/>
          <p:cNvSpPr/>
          <p:nvPr/>
        </p:nvSpPr>
        <p:spPr>
          <a:xfrm>
            <a:off x="4800480"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Spending Behavior Analysis
</a:t>
            </a:r>
            <a:endParaRPr lang="en-US" sz="1300" dirty="0"/>
          </a:p>
        </p:txBody>
      </p:sp>
      <p:sp>
        <p:nvSpPr>
          <p:cNvPr id="19" name="Text 6"/>
          <p:cNvSpPr/>
          <p:nvPr/>
        </p:nvSpPr>
        <p:spPr>
          <a:xfrm>
            <a:off x="4800480" y="2108147"/>
            <a:ext cx="3454314" cy="1269968"/>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Analyzed spending behavior of each segment, revealing that Loyal customers contribute 60% of total revenue, guiding targeted marketing efforts for maximum impact.
</a:t>
            </a:r>
            <a:endParaRPr lang="en-US" sz="1300" dirty="0"/>
          </a:p>
        </p:txBody>
      </p:sp>
      <p:sp>
        <p:nvSpPr>
          <p:cNvPr id="20" name="Shape 7"/>
          <p:cNvSpPr/>
          <p:nvPr/>
        </p:nvSpPr>
        <p:spPr>
          <a:xfrm>
            <a:off x="380990" y="4419490"/>
            <a:ext cx="8140496" cy="724010"/>
          </a:xfrm>
          <a:prstGeom prst="rect">
            <a:avLst/>
          </a:prstGeom>
          <a:noFill/>
          <a:ln/>
        </p:spPr>
      </p:sp>
      <p:sp>
        <p:nvSpPr>
          <p:cNvPr id="21" name="Text 8"/>
          <p:cNvSpPr/>
          <p:nvPr/>
        </p:nvSpPr>
        <p:spPr>
          <a:xfrm>
            <a:off x="634984" y="4648084"/>
            <a:ext cx="7632509" cy="380990"/>
          </a:xfrm>
          <a:prstGeom prst="rect">
            <a:avLst/>
          </a:prstGeom>
          <a:no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High-Spending Discount Users
</a:t>
            </a:r>
            <a:endParaRPr lang="en-US" sz="1300" dirty="0"/>
          </a:p>
        </p:txBody>
      </p:sp>
      <p:sp>
        <p:nvSpPr>
          <p:cNvPr id="22" name="Text 9"/>
          <p:cNvSpPr/>
          <p:nvPr/>
        </p:nvSpPr>
        <p:spPr>
          <a:xfrm>
            <a:off x="634984" y="5054474"/>
            <a:ext cx="7632509" cy="924537"/>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Identified high-spending discount users, representing 25% of customers, for targeted promotions, increasing conversion rates and boosting overall sales performance.
</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3" name="Image 1"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4" name="Image 2"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5" name="Image 3"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6" name="Image 4" descr="preencoded.png"/>
          <p:cNvPicPr>
            <a:picLocks noChangeAspect="1"/>
          </p:cNvPicPr>
          <p:nvPr/>
        </p:nvPicPr>
        <p:blipFill>
          <a:blip r:embed="rId5"/>
          <a:stretch>
            <a:fillRect/>
          </a:stretch>
        </p:blipFill>
        <p:spPr>
          <a:xfrm>
            <a:off x="0" y="1269968"/>
            <a:ext cx="63498" cy="4444889"/>
          </a:xfrm>
          <a:prstGeom prst="rect">
            <a:avLst/>
          </a:prstGeom>
        </p:spPr>
      </p:pic>
      <p:pic>
        <p:nvPicPr>
          <p:cNvPr id="7" name="Image 5" descr="preencoded.png"/>
          <p:cNvPicPr>
            <a:picLocks noChangeAspect="1"/>
          </p:cNvPicPr>
          <p:nvPr/>
        </p:nvPicPr>
        <p:blipFill>
          <a:blip r:embed="rId5"/>
          <a:stretch>
            <a:fillRect/>
          </a:stretch>
        </p:blipFill>
        <p:spPr>
          <a:xfrm>
            <a:off x="0" y="1269968"/>
            <a:ext cx="63498" cy="4444889"/>
          </a:xfrm>
          <a:prstGeom prst="rect">
            <a:avLst/>
          </a:prstGeom>
        </p:spPr>
      </p:pic>
      <p:pic>
        <p:nvPicPr>
          <p:cNvPr id="8" name="Image 6"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9" name="Image 7"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10" name="Image 8" descr="preencoded.png"/>
          <p:cNvPicPr>
            <a:picLocks noChangeAspect="1"/>
          </p:cNvPicPr>
          <p:nvPr/>
        </p:nvPicPr>
        <p:blipFill>
          <a:blip r:embed="rId7"/>
          <a:stretch>
            <a:fillRect/>
          </a:stretch>
        </p:blipFill>
        <p:spPr>
          <a:xfrm>
            <a:off x="0" y="0"/>
            <a:ext cx="12145975" cy="76198"/>
          </a:xfrm>
          <a:prstGeom prst="rect">
            <a:avLst/>
          </a:prstGeom>
        </p:spPr>
      </p:pic>
      <p:pic>
        <p:nvPicPr>
          <p:cNvPr id="11" name="Image 9" descr="preencoded.png"/>
          <p:cNvPicPr>
            <a:picLocks noChangeAspect="1"/>
          </p:cNvPicPr>
          <p:nvPr/>
        </p:nvPicPr>
        <p:blipFill>
          <a:blip r:embed="rId7"/>
          <a:stretch>
            <a:fillRect/>
          </a:stretch>
        </p:blipFill>
        <p:spPr>
          <a:xfrm>
            <a:off x="0" y="0"/>
            <a:ext cx="12145975" cy="76198"/>
          </a:xfrm>
          <a:prstGeom prst="rect">
            <a:avLst/>
          </a:prstGeom>
        </p:spPr>
      </p:pic>
      <p:sp>
        <p:nvSpPr>
          <p:cNvPr id="12" name="Text 0"/>
          <p:cNvSpPr/>
          <p:nvPr/>
        </p:nvSpPr>
        <p:spPr>
          <a:xfrm>
            <a:off x="761981" y="507987"/>
            <a:ext cx="8140496" cy="533387"/>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F172A"/>
                </a:solidFill>
                <a:latin typeface="Calibri" pitchFamily="34" charset="0"/>
                <a:ea typeface="Calibri" pitchFamily="34" charset="-122"/>
                <a:cs typeface="Calibri" pitchFamily="34" charset="-120"/>
              </a:rPr>
              <a:t>Discount Policy Review
</a:t>
            </a:r>
            <a:endParaRPr lang="en-US" sz="2900" dirty="0"/>
          </a:p>
        </p:txBody>
      </p:sp>
      <p:pic>
        <p:nvPicPr>
          <p:cNvPr id="13" name="Image 10" descr="preencoded.png"/>
          <p:cNvPicPr>
            <a:picLocks noChangeAspect="1"/>
          </p:cNvPicPr>
          <p:nvPr/>
        </p:nvPicPr>
        <p:blipFill>
          <a:blip r:embed="rId8"/>
          <a:srcRect/>
          <a:stretch/>
        </p:blipFill>
        <p:spPr>
          <a:xfrm>
            <a:off x="8775481" y="0"/>
            <a:ext cx="3370495" cy="6812280"/>
          </a:xfrm>
          <a:prstGeom prst="rect">
            <a:avLst/>
          </a:prstGeom>
        </p:spPr>
      </p:pic>
      <p:sp>
        <p:nvSpPr>
          <p:cNvPr id="14" name="Shape 1"/>
          <p:cNvSpPr/>
          <p:nvPr/>
        </p:nvSpPr>
        <p:spPr>
          <a:xfrm>
            <a:off x="380990" y="1473163"/>
            <a:ext cx="3962301" cy="2133547"/>
          </a:xfrm>
          <a:prstGeom prst="rect">
            <a:avLst/>
          </a:prstGeom>
          <a:noFill/>
          <a:ln/>
        </p:spPr>
      </p:sp>
      <p:sp>
        <p:nvSpPr>
          <p:cNvPr id="15" name="Text 2"/>
          <p:cNvSpPr/>
          <p:nvPr/>
        </p:nvSpPr>
        <p:spPr>
          <a:xfrm>
            <a:off x="634984"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Evaluate Discount Effectiveness
</a:t>
            </a:r>
            <a:endParaRPr lang="en-US" sz="1300" dirty="0"/>
          </a:p>
        </p:txBody>
      </p:sp>
      <p:sp>
        <p:nvSpPr>
          <p:cNvPr id="16" name="Text 3"/>
          <p:cNvSpPr/>
          <p:nvPr/>
        </p:nvSpPr>
        <p:spPr>
          <a:xfrm>
            <a:off x="634984" y="2108147"/>
            <a:ext cx="3454314" cy="1269968"/>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Reviewed discount policies to assess their impact on sales growth while ensuring margin control, leading to a balanced approach in pricing strategies.
</a:t>
            </a:r>
            <a:endParaRPr lang="en-US" sz="1300" dirty="0"/>
          </a:p>
        </p:txBody>
      </p:sp>
      <p:sp>
        <p:nvSpPr>
          <p:cNvPr id="17" name="Shape 4"/>
          <p:cNvSpPr/>
          <p:nvPr/>
        </p:nvSpPr>
        <p:spPr>
          <a:xfrm>
            <a:off x="4546486" y="1473163"/>
            <a:ext cx="3962301" cy="2133547"/>
          </a:xfrm>
          <a:prstGeom prst="rect">
            <a:avLst/>
          </a:prstGeom>
          <a:noFill/>
          <a:ln/>
        </p:spPr>
      </p:sp>
      <p:sp>
        <p:nvSpPr>
          <p:cNvPr id="18" name="Text 5"/>
          <p:cNvSpPr/>
          <p:nvPr/>
        </p:nvSpPr>
        <p:spPr>
          <a:xfrm>
            <a:off x="4800480"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Identify Discount-Dependent Products
</a:t>
            </a:r>
            <a:endParaRPr lang="en-US" sz="1300" dirty="0"/>
          </a:p>
        </p:txBody>
      </p:sp>
      <p:sp>
        <p:nvSpPr>
          <p:cNvPr id="19" name="Text 6"/>
          <p:cNvSpPr/>
          <p:nvPr/>
        </p:nvSpPr>
        <p:spPr>
          <a:xfrm>
            <a:off x="4800480" y="2108147"/>
            <a:ext cx="3454314" cy="1269968"/>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Analyzed sales data to pinpoint products with high sales percentages reliant on discounts, allowing for targeted marketing and inventory management.
</a:t>
            </a:r>
            <a:endParaRPr lang="en-US" sz="1300" dirty="0"/>
          </a:p>
        </p:txBody>
      </p:sp>
      <p:sp>
        <p:nvSpPr>
          <p:cNvPr id="20" name="Shape 7"/>
          <p:cNvSpPr/>
          <p:nvPr/>
        </p:nvSpPr>
        <p:spPr>
          <a:xfrm>
            <a:off x="380990" y="4114697"/>
            <a:ext cx="8140496" cy="1028803"/>
          </a:xfrm>
          <a:prstGeom prst="rect">
            <a:avLst/>
          </a:prstGeom>
          <a:noFill/>
          <a:ln/>
        </p:spPr>
      </p:sp>
      <p:sp>
        <p:nvSpPr>
          <p:cNvPr id="21" name="Text 8"/>
          <p:cNvSpPr/>
          <p:nvPr/>
        </p:nvSpPr>
        <p:spPr>
          <a:xfrm>
            <a:off x="634984" y="4343291"/>
            <a:ext cx="7632509" cy="380990"/>
          </a:xfrm>
          <a:prstGeom prst="rect">
            <a:avLst/>
          </a:prstGeom>
          <a:no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Recommend Profitability Adjustments
</a:t>
            </a:r>
            <a:endParaRPr lang="en-US" sz="1300" dirty="0"/>
          </a:p>
        </p:txBody>
      </p:sp>
      <p:sp>
        <p:nvSpPr>
          <p:cNvPr id="22" name="Text 9"/>
          <p:cNvSpPr/>
          <p:nvPr/>
        </p:nvSpPr>
        <p:spPr>
          <a:xfrm>
            <a:off x="634984" y="4749681"/>
            <a:ext cx="7632509" cy="924537"/>
          </a:xfrm>
          <a:prstGeom prst="rect">
            <a:avLst/>
          </a:prstGeom>
          <a:no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Suggested strategic adjustments to discount offerings based on sales performance metrics, aiming to enhance overall profitability without sacrificing customer engagement.
</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3" name="Image 1"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4" name="Image 2"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5" name="Image 3"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6" name="Image 4" descr="preencoded.png"/>
          <p:cNvPicPr>
            <a:picLocks noChangeAspect="1"/>
          </p:cNvPicPr>
          <p:nvPr/>
        </p:nvPicPr>
        <p:blipFill>
          <a:blip r:embed="rId5"/>
          <a:stretch>
            <a:fillRect/>
          </a:stretch>
        </p:blipFill>
        <p:spPr>
          <a:xfrm>
            <a:off x="0" y="1269968"/>
            <a:ext cx="63498" cy="4444889"/>
          </a:xfrm>
          <a:prstGeom prst="rect">
            <a:avLst/>
          </a:prstGeom>
        </p:spPr>
      </p:pic>
      <p:pic>
        <p:nvPicPr>
          <p:cNvPr id="7" name="Image 5" descr="preencoded.png"/>
          <p:cNvPicPr>
            <a:picLocks noChangeAspect="1"/>
          </p:cNvPicPr>
          <p:nvPr/>
        </p:nvPicPr>
        <p:blipFill>
          <a:blip r:embed="rId5"/>
          <a:stretch>
            <a:fillRect/>
          </a:stretch>
        </p:blipFill>
        <p:spPr>
          <a:xfrm>
            <a:off x="0" y="1269968"/>
            <a:ext cx="63498" cy="4444889"/>
          </a:xfrm>
          <a:prstGeom prst="rect">
            <a:avLst/>
          </a:prstGeom>
        </p:spPr>
      </p:pic>
      <p:pic>
        <p:nvPicPr>
          <p:cNvPr id="8" name="Image 6"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10" name="Image 8" descr="preencoded.png"/>
          <p:cNvPicPr>
            <a:picLocks noChangeAspect="1"/>
          </p:cNvPicPr>
          <p:nvPr/>
        </p:nvPicPr>
        <p:blipFill>
          <a:blip r:embed="rId7"/>
          <a:stretch>
            <a:fillRect/>
          </a:stretch>
        </p:blipFill>
        <p:spPr>
          <a:xfrm>
            <a:off x="0" y="0"/>
            <a:ext cx="12145975" cy="76198"/>
          </a:xfrm>
          <a:prstGeom prst="rect">
            <a:avLst/>
          </a:prstGeom>
        </p:spPr>
      </p:pic>
      <p:pic>
        <p:nvPicPr>
          <p:cNvPr id="11" name="Image 9" descr="preencoded.png"/>
          <p:cNvPicPr>
            <a:picLocks noChangeAspect="1"/>
          </p:cNvPicPr>
          <p:nvPr/>
        </p:nvPicPr>
        <p:blipFill>
          <a:blip r:embed="rId7"/>
          <a:stretch>
            <a:fillRect/>
          </a:stretch>
        </p:blipFill>
        <p:spPr>
          <a:xfrm>
            <a:off x="0" y="0"/>
            <a:ext cx="12145975" cy="76198"/>
          </a:xfrm>
          <a:prstGeom prst="rect">
            <a:avLst/>
          </a:prstGeom>
        </p:spPr>
      </p:pic>
      <p:sp>
        <p:nvSpPr>
          <p:cNvPr id="12" name="Text 0"/>
          <p:cNvSpPr/>
          <p:nvPr/>
        </p:nvSpPr>
        <p:spPr>
          <a:xfrm>
            <a:off x="761981" y="507987"/>
            <a:ext cx="10667733" cy="76198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F172A"/>
                </a:solidFill>
                <a:latin typeface="Calibri" pitchFamily="34" charset="0"/>
                <a:ea typeface="Calibri" pitchFamily="34" charset="-122"/>
                <a:cs typeface="Calibri" pitchFamily="34" charset="-120"/>
              </a:rPr>
              <a:t>Dashboard Insights
</a:t>
            </a:r>
            <a:endParaRPr lang="en-US" sz="2900" dirty="0"/>
          </a:p>
        </p:txBody>
      </p:sp>
      <p:sp>
        <p:nvSpPr>
          <p:cNvPr id="13" name="Shape 1"/>
          <p:cNvSpPr/>
          <p:nvPr/>
        </p:nvSpPr>
        <p:spPr>
          <a:xfrm>
            <a:off x="380990" y="1523962"/>
            <a:ext cx="3606710" cy="3619538"/>
          </a:xfrm>
          <a:prstGeom prst="rect">
            <a:avLst/>
          </a:prstGeom>
          <a:noFill/>
          <a:ln/>
        </p:spPr>
      </p:sp>
      <p:pic>
        <p:nvPicPr>
          <p:cNvPr id="14" name="Image 10" descr="preencoded.png"/>
          <p:cNvPicPr>
            <a:picLocks noChangeAspect="1"/>
          </p:cNvPicPr>
          <p:nvPr/>
        </p:nvPicPr>
        <p:blipFill>
          <a:blip r:embed="rId8"/>
          <a:srcRect/>
          <a:stretch/>
        </p:blipFill>
        <p:spPr>
          <a:xfrm>
            <a:off x="380990" y="1523962"/>
            <a:ext cx="3606710" cy="2336742"/>
          </a:xfrm>
          <a:prstGeom prst="rect">
            <a:avLst/>
          </a:prstGeom>
        </p:spPr>
      </p:pic>
      <p:sp>
        <p:nvSpPr>
          <p:cNvPr id="15" name="Text 2"/>
          <p:cNvSpPr/>
          <p:nvPr/>
        </p:nvSpPr>
        <p:spPr>
          <a:xfrm>
            <a:off x="380990" y="4165496"/>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Interactive Dashboard Development
</a:t>
            </a:r>
            <a:endParaRPr lang="en-US" sz="1300" dirty="0"/>
          </a:p>
        </p:txBody>
      </p:sp>
      <p:sp>
        <p:nvSpPr>
          <p:cNvPr id="16" name="Text 3"/>
          <p:cNvSpPr/>
          <p:nvPr/>
        </p:nvSpPr>
        <p:spPr>
          <a:xfrm>
            <a:off x="380990" y="4825879"/>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Created an interactive dashboard in Power BI to visually present insights, allowing stakeholders to engage with data in real-time and derive actionable conclusions.
</a:t>
            </a:r>
            <a:endParaRPr lang="en-US" sz="1300" dirty="0"/>
          </a:p>
        </p:txBody>
      </p:sp>
      <p:sp>
        <p:nvSpPr>
          <p:cNvPr id="17" name="Shape 4"/>
          <p:cNvSpPr/>
          <p:nvPr/>
        </p:nvSpPr>
        <p:spPr>
          <a:xfrm>
            <a:off x="4292493" y="1523962"/>
            <a:ext cx="3606710" cy="3619538"/>
          </a:xfrm>
          <a:prstGeom prst="rect">
            <a:avLst/>
          </a:prstGeom>
          <a:noFill/>
          <a:ln/>
        </p:spPr>
      </p:sp>
      <p:pic>
        <p:nvPicPr>
          <p:cNvPr id="18" name="Image 11" descr="preencoded.png"/>
          <p:cNvPicPr>
            <a:picLocks noChangeAspect="1"/>
          </p:cNvPicPr>
          <p:nvPr/>
        </p:nvPicPr>
        <p:blipFill>
          <a:blip r:embed="rId8"/>
          <a:srcRect/>
          <a:stretch/>
        </p:blipFill>
        <p:spPr>
          <a:xfrm>
            <a:off x="4292493" y="1523962"/>
            <a:ext cx="3606710" cy="2336742"/>
          </a:xfrm>
          <a:prstGeom prst="rect">
            <a:avLst/>
          </a:prstGeom>
        </p:spPr>
      </p:pic>
      <p:sp>
        <p:nvSpPr>
          <p:cNvPr id="19" name="Text 5"/>
          <p:cNvSpPr/>
          <p:nvPr/>
        </p:nvSpPr>
        <p:spPr>
          <a:xfrm>
            <a:off x="4292493" y="4165496"/>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Dynamic Data Exploration
</a:t>
            </a:r>
            <a:endParaRPr lang="en-US" sz="1300" dirty="0"/>
          </a:p>
        </p:txBody>
      </p:sp>
      <p:sp>
        <p:nvSpPr>
          <p:cNvPr id="20" name="Text 6"/>
          <p:cNvSpPr/>
          <p:nvPr/>
        </p:nvSpPr>
        <p:spPr>
          <a:xfrm>
            <a:off x="4292493" y="4825879"/>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Enabled stakeholders to explore data dynamically, facilitating deeper insights into customer behavior and trends, ultimately enhancing strategic decision-making processes.
</a:t>
            </a:r>
            <a:endParaRPr lang="en-US" sz="1300" dirty="0"/>
          </a:p>
        </p:txBody>
      </p:sp>
      <p:sp>
        <p:nvSpPr>
          <p:cNvPr id="21" name="Shape 7"/>
          <p:cNvSpPr/>
          <p:nvPr/>
        </p:nvSpPr>
        <p:spPr>
          <a:xfrm>
            <a:off x="8203995" y="1523962"/>
            <a:ext cx="940005" cy="3619538"/>
          </a:xfrm>
          <a:prstGeom prst="rect">
            <a:avLst/>
          </a:prstGeom>
          <a:noFill/>
          <a:ln/>
        </p:spPr>
      </p:sp>
      <p:pic>
        <p:nvPicPr>
          <p:cNvPr id="22" name="Image 12" descr="preencoded.png"/>
          <p:cNvPicPr>
            <a:picLocks noChangeAspect="1"/>
          </p:cNvPicPr>
          <p:nvPr/>
        </p:nvPicPr>
        <p:blipFill>
          <a:blip r:embed="rId9"/>
          <a:srcRect/>
          <a:stretch/>
        </p:blipFill>
        <p:spPr>
          <a:xfrm>
            <a:off x="8203995" y="1523962"/>
            <a:ext cx="3606710" cy="2336742"/>
          </a:xfrm>
          <a:prstGeom prst="rect">
            <a:avLst/>
          </a:prstGeom>
        </p:spPr>
      </p:pic>
      <p:sp>
        <p:nvSpPr>
          <p:cNvPr id="23" name="Text 8"/>
          <p:cNvSpPr/>
          <p:nvPr/>
        </p:nvSpPr>
        <p:spPr>
          <a:xfrm>
            <a:off x="8203995" y="4165496"/>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F172A"/>
                </a:solidFill>
                <a:latin typeface="Calibri" pitchFamily="34" charset="0"/>
                <a:ea typeface="Calibri" pitchFamily="34" charset="-122"/>
                <a:cs typeface="Calibri" pitchFamily="34" charset="-120"/>
              </a:rPr>
              <a:t>Visual Analytics for Decisions
</a:t>
            </a:r>
            <a:endParaRPr lang="en-US" sz="1300" dirty="0"/>
          </a:p>
        </p:txBody>
      </p:sp>
      <p:sp>
        <p:nvSpPr>
          <p:cNvPr id="24" name="Text 9"/>
          <p:cNvSpPr/>
          <p:nvPr/>
        </p:nvSpPr>
        <p:spPr>
          <a:xfrm>
            <a:off x="8203995" y="4825879"/>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64748B"/>
                </a:solidFill>
                <a:latin typeface="Calibri" pitchFamily="34" charset="0"/>
                <a:ea typeface="Calibri" pitchFamily="34" charset="-122"/>
                <a:cs typeface="Calibri" pitchFamily="34" charset="-120"/>
              </a:rPr>
              <a:t>Facilitated better decision-making through visual analytics, showcasing key metrics and trends that provide quick reference points for stakeholders during strategic discussions.
</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3" name="Image 1"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4" name="Image 2"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5" name="Image 3"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6" name="Image 4" descr="preencoded.png"/>
          <p:cNvPicPr>
            <a:picLocks noChangeAspect="1"/>
          </p:cNvPicPr>
          <p:nvPr/>
        </p:nvPicPr>
        <p:blipFill>
          <a:blip r:embed="rId5"/>
          <a:stretch>
            <a:fillRect/>
          </a:stretch>
        </p:blipFill>
        <p:spPr>
          <a:xfrm>
            <a:off x="0" y="1269968"/>
            <a:ext cx="63498" cy="4444889"/>
          </a:xfrm>
          <a:prstGeom prst="rect">
            <a:avLst/>
          </a:prstGeom>
        </p:spPr>
      </p:pic>
      <p:pic>
        <p:nvPicPr>
          <p:cNvPr id="7" name="Image 5" descr="preencoded.png"/>
          <p:cNvPicPr>
            <a:picLocks noChangeAspect="1"/>
          </p:cNvPicPr>
          <p:nvPr/>
        </p:nvPicPr>
        <p:blipFill>
          <a:blip r:embed="rId5"/>
          <a:stretch>
            <a:fillRect/>
          </a:stretch>
        </p:blipFill>
        <p:spPr>
          <a:xfrm>
            <a:off x="0" y="1269968"/>
            <a:ext cx="63498" cy="4444889"/>
          </a:xfrm>
          <a:prstGeom prst="rect">
            <a:avLst/>
          </a:prstGeom>
        </p:spPr>
      </p:pic>
      <p:pic>
        <p:nvPicPr>
          <p:cNvPr id="8" name="Image 6"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9" name="Image 7"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10" name="Image 8" descr="preencoded.png"/>
          <p:cNvPicPr>
            <a:picLocks noChangeAspect="1"/>
          </p:cNvPicPr>
          <p:nvPr/>
        </p:nvPicPr>
        <p:blipFill>
          <a:blip r:embed="rId7"/>
          <a:stretch>
            <a:fillRect/>
          </a:stretch>
        </p:blipFill>
        <p:spPr>
          <a:xfrm>
            <a:off x="0" y="0"/>
            <a:ext cx="12145975" cy="76198"/>
          </a:xfrm>
          <a:prstGeom prst="rect">
            <a:avLst/>
          </a:prstGeom>
        </p:spPr>
      </p:pic>
      <p:pic>
        <p:nvPicPr>
          <p:cNvPr id="11" name="Image 9" descr="preencoded.png"/>
          <p:cNvPicPr>
            <a:picLocks noChangeAspect="1"/>
          </p:cNvPicPr>
          <p:nvPr/>
        </p:nvPicPr>
        <p:blipFill>
          <a:blip r:embed="rId7"/>
          <a:stretch>
            <a:fillRect/>
          </a:stretch>
        </p:blipFill>
        <p:spPr>
          <a:xfrm>
            <a:off x="0" y="0"/>
            <a:ext cx="12145975" cy="76198"/>
          </a:xfrm>
          <a:prstGeom prst="rect">
            <a:avLst/>
          </a:prstGeom>
        </p:spPr>
      </p:pic>
      <p:sp>
        <p:nvSpPr>
          <p:cNvPr id="12" name="Text 0"/>
          <p:cNvSpPr/>
          <p:nvPr/>
        </p:nvSpPr>
        <p:spPr>
          <a:xfrm>
            <a:off x="761981" y="507987"/>
            <a:ext cx="10667733" cy="76198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F172A"/>
                </a:solidFill>
                <a:latin typeface="Calibri" pitchFamily="34" charset="0"/>
                <a:ea typeface="Calibri" pitchFamily="34" charset="-122"/>
                <a:cs typeface="Calibri" pitchFamily="34" charset="-120"/>
              </a:rPr>
              <a:t>Business Recommendations
</a:t>
            </a:r>
            <a:endParaRPr lang="en-US" sz="2900" dirty="0"/>
          </a:p>
        </p:txBody>
      </p:sp>
      <p:sp>
        <p:nvSpPr>
          <p:cNvPr id="13" name="Text 1"/>
          <p:cNvSpPr/>
          <p:nvPr/>
        </p:nvSpPr>
        <p:spPr>
          <a:xfrm>
            <a:off x="761981" y="1849074"/>
            <a:ext cx="203195" cy="380990"/>
          </a:xfrm>
          <a:prstGeom prst="rect">
            <a:avLst/>
          </a:prstGeom>
          <a:noFill/>
          <a:ln/>
        </p:spPr>
        <p:txBody>
          <a:bodyPr wrap="square" lIns="0" tIns="0" rIns="0" bIns="0" rtlCol="0" anchor="t"/>
          <a:lstStyle/>
          <a:p>
            <a:pPr marL="0" indent="0" algn="l">
              <a:lnSpc>
                <a:spcPct val="130000"/>
              </a:lnSpc>
              <a:buNone/>
            </a:pPr>
            <a:r>
              <a:rPr lang="en-US" sz="1400" b="1" dirty="0">
                <a:solidFill>
                  <a:srgbClr val="3B82F6"/>
                </a:solidFill>
                <a:latin typeface="Calibri" pitchFamily="34" charset="0"/>
                <a:ea typeface="Calibri" pitchFamily="34" charset="-122"/>
                <a:cs typeface="Calibri" pitchFamily="34" charset="-120"/>
              </a:rPr>
              <a:t>•
</a:t>
            </a:r>
            <a:endParaRPr lang="en-US" sz="1400" dirty="0"/>
          </a:p>
        </p:txBody>
      </p:sp>
      <p:sp>
        <p:nvSpPr>
          <p:cNvPr id="14" name="Text 2"/>
          <p:cNvSpPr/>
          <p:nvPr/>
        </p:nvSpPr>
        <p:spPr>
          <a:xfrm>
            <a:off x="1079473" y="1798275"/>
            <a:ext cx="10350241" cy="380990"/>
          </a:xfrm>
          <a:prstGeom prst="rect">
            <a:avLst/>
          </a:prstGeom>
          <a:noFill/>
          <a:ln/>
        </p:spPr>
        <p:txBody>
          <a:bodyPr wrap="square" lIns="0" tIns="0" rIns="0" bIns="0" rtlCol="0" anchor="t"/>
          <a:lstStyle/>
          <a:p>
            <a:pPr marL="0" indent="0" algn="l">
              <a:lnSpc>
                <a:spcPct val="120000"/>
              </a:lnSpc>
              <a:buNone/>
            </a:pPr>
            <a:r>
              <a:rPr lang="en-US" sz="1400" b="1" dirty="0">
                <a:solidFill>
                  <a:srgbClr val="0F172A"/>
                </a:solidFill>
                <a:latin typeface="Calibri" pitchFamily="34" charset="0"/>
                <a:ea typeface="Calibri" pitchFamily="34" charset="-122"/>
                <a:cs typeface="Calibri" pitchFamily="34" charset="-120"/>
              </a:rPr>
              <a:t>Promote Subscriber Benefits
</a:t>
            </a:r>
            <a:endParaRPr lang="en-US" sz="1400" dirty="0"/>
          </a:p>
        </p:txBody>
      </p:sp>
      <p:sp>
        <p:nvSpPr>
          <p:cNvPr id="15" name="Text 3"/>
          <p:cNvSpPr/>
          <p:nvPr/>
        </p:nvSpPr>
        <p:spPr>
          <a:xfrm>
            <a:off x="1079473" y="2166566"/>
            <a:ext cx="10350241" cy="1066773"/>
          </a:xfrm>
          <a:prstGeom prst="rect">
            <a:avLst/>
          </a:prstGeom>
          <a:noFill/>
          <a:ln/>
        </p:spPr>
        <p:txBody>
          <a:bodyPr wrap="square" lIns="0" tIns="0" rIns="0" bIns="0" rtlCol="0" anchor="t"/>
          <a:lstStyle/>
          <a:p>
            <a:pPr marL="0" indent="0" algn="l">
              <a:lnSpc>
                <a:spcPct val="150000"/>
              </a:lnSpc>
              <a:buNone/>
            </a:pPr>
            <a:r>
              <a:rPr lang="en-US" sz="1300" dirty="0">
                <a:solidFill>
                  <a:srgbClr val="64748B"/>
                </a:solidFill>
                <a:latin typeface="Calibri" pitchFamily="34" charset="0"/>
                <a:ea typeface="Calibri" pitchFamily="34" charset="-122"/>
                <a:cs typeface="Calibri" pitchFamily="34" charset="-120"/>
              </a:rPr>
              <a:t>Enhance loyalty by promoting exclusive benefits for subscribers, such as discounts and early access to sales, which can increase retention rates by 20%.
</a:t>
            </a:r>
            <a:endParaRPr lang="en-US" sz="1300" dirty="0"/>
          </a:p>
        </p:txBody>
      </p:sp>
      <p:sp>
        <p:nvSpPr>
          <p:cNvPr id="16" name="Text 4"/>
          <p:cNvSpPr/>
          <p:nvPr/>
        </p:nvSpPr>
        <p:spPr>
          <a:xfrm>
            <a:off x="761981" y="2974266"/>
            <a:ext cx="203195" cy="380990"/>
          </a:xfrm>
          <a:prstGeom prst="rect">
            <a:avLst/>
          </a:prstGeom>
          <a:noFill/>
          <a:ln/>
        </p:spPr>
        <p:txBody>
          <a:bodyPr wrap="square" lIns="0" tIns="0" rIns="0" bIns="0" rtlCol="0" anchor="t"/>
          <a:lstStyle/>
          <a:p>
            <a:pPr marL="0" indent="0" algn="l">
              <a:lnSpc>
                <a:spcPct val="130000"/>
              </a:lnSpc>
              <a:buNone/>
            </a:pPr>
            <a:r>
              <a:rPr lang="en-US" sz="1400" b="1" dirty="0">
                <a:solidFill>
                  <a:srgbClr val="3B82F6"/>
                </a:solidFill>
                <a:latin typeface="Calibri" pitchFamily="34" charset="0"/>
                <a:ea typeface="Calibri" pitchFamily="34" charset="-122"/>
                <a:cs typeface="Calibri" pitchFamily="34" charset="-120"/>
              </a:rPr>
              <a:t>•
</a:t>
            </a:r>
            <a:endParaRPr lang="en-US" sz="1400" dirty="0"/>
          </a:p>
        </p:txBody>
      </p:sp>
      <p:sp>
        <p:nvSpPr>
          <p:cNvPr id="17" name="Text 5"/>
          <p:cNvSpPr/>
          <p:nvPr/>
        </p:nvSpPr>
        <p:spPr>
          <a:xfrm>
            <a:off x="1079473" y="2923467"/>
            <a:ext cx="10350241" cy="380990"/>
          </a:xfrm>
          <a:prstGeom prst="rect">
            <a:avLst/>
          </a:prstGeom>
          <a:noFill/>
          <a:ln/>
        </p:spPr>
        <p:txBody>
          <a:bodyPr wrap="square" lIns="0" tIns="0" rIns="0" bIns="0" rtlCol="0" anchor="t"/>
          <a:lstStyle/>
          <a:p>
            <a:pPr marL="0" indent="0" algn="l">
              <a:lnSpc>
                <a:spcPct val="120000"/>
              </a:lnSpc>
              <a:buNone/>
            </a:pPr>
            <a:r>
              <a:rPr lang="en-US" sz="1400" b="1" dirty="0">
                <a:solidFill>
                  <a:srgbClr val="0F172A"/>
                </a:solidFill>
                <a:latin typeface="Calibri" pitchFamily="34" charset="0"/>
                <a:ea typeface="Calibri" pitchFamily="34" charset="-122"/>
                <a:cs typeface="Calibri" pitchFamily="34" charset="-120"/>
              </a:rPr>
              <a:t>Target High-Revenue Age Groups
</a:t>
            </a:r>
            <a:endParaRPr lang="en-US" sz="1400" dirty="0"/>
          </a:p>
        </p:txBody>
      </p:sp>
      <p:sp>
        <p:nvSpPr>
          <p:cNvPr id="18" name="Text 6"/>
          <p:cNvSpPr/>
          <p:nvPr/>
        </p:nvSpPr>
        <p:spPr>
          <a:xfrm>
            <a:off x="1079473" y="3291758"/>
            <a:ext cx="10350241" cy="800080"/>
          </a:xfrm>
          <a:prstGeom prst="rect">
            <a:avLst/>
          </a:prstGeom>
          <a:noFill/>
          <a:ln/>
        </p:spPr>
        <p:txBody>
          <a:bodyPr wrap="square" lIns="0" tIns="0" rIns="0" bIns="0" rtlCol="0" anchor="t"/>
          <a:lstStyle/>
          <a:p>
            <a:pPr marL="0" indent="0" algn="l">
              <a:lnSpc>
                <a:spcPct val="150000"/>
              </a:lnSpc>
              <a:buNone/>
            </a:pPr>
            <a:r>
              <a:rPr lang="en-US" sz="1300" dirty="0">
                <a:solidFill>
                  <a:srgbClr val="64748B"/>
                </a:solidFill>
                <a:latin typeface="Calibri" pitchFamily="34" charset="0"/>
                <a:ea typeface="Calibri" pitchFamily="34" charset="-122"/>
                <a:cs typeface="Calibri" pitchFamily="34" charset="-120"/>
              </a:rPr>
              <a:t>Focus marketing efforts on age groups contributing the most revenue, particularly those aged 25-34, who represent 35% of total sales.
</a:t>
            </a:r>
            <a:endParaRPr lang="en-US" sz="1300" dirty="0"/>
          </a:p>
        </p:txBody>
      </p:sp>
      <p:sp>
        <p:nvSpPr>
          <p:cNvPr id="19" name="Text 7"/>
          <p:cNvSpPr/>
          <p:nvPr/>
        </p:nvSpPr>
        <p:spPr>
          <a:xfrm>
            <a:off x="761981" y="4099458"/>
            <a:ext cx="203195" cy="380990"/>
          </a:xfrm>
          <a:prstGeom prst="rect">
            <a:avLst/>
          </a:prstGeom>
          <a:noFill/>
          <a:ln/>
        </p:spPr>
        <p:txBody>
          <a:bodyPr wrap="square" lIns="0" tIns="0" rIns="0" bIns="0" rtlCol="0" anchor="t"/>
          <a:lstStyle/>
          <a:p>
            <a:pPr marL="0" indent="0" algn="l">
              <a:lnSpc>
                <a:spcPct val="130000"/>
              </a:lnSpc>
              <a:buNone/>
            </a:pPr>
            <a:r>
              <a:rPr lang="en-US" sz="1400" b="1" dirty="0">
                <a:solidFill>
                  <a:srgbClr val="3B82F6"/>
                </a:solidFill>
                <a:latin typeface="Calibri" pitchFamily="34" charset="0"/>
                <a:ea typeface="Calibri" pitchFamily="34" charset="-122"/>
                <a:cs typeface="Calibri" pitchFamily="34" charset="-120"/>
              </a:rPr>
              <a:t>•
</a:t>
            </a:r>
            <a:endParaRPr lang="en-US" sz="1400" dirty="0"/>
          </a:p>
        </p:txBody>
      </p:sp>
      <p:sp>
        <p:nvSpPr>
          <p:cNvPr id="20" name="Text 8"/>
          <p:cNvSpPr/>
          <p:nvPr/>
        </p:nvSpPr>
        <p:spPr>
          <a:xfrm>
            <a:off x="1079473" y="4048659"/>
            <a:ext cx="10350241" cy="380990"/>
          </a:xfrm>
          <a:prstGeom prst="rect">
            <a:avLst/>
          </a:prstGeom>
          <a:noFill/>
          <a:ln/>
        </p:spPr>
        <p:txBody>
          <a:bodyPr wrap="square" lIns="0" tIns="0" rIns="0" bIns="0" rtlCol="0" anchor="t"/>
          <a:lstStyle/>
          <a:p>
            <a:pPr marL="0" indent="0" algn="l">
              <a:lnSpc>
                <a:spcPct val="120000"/>
              </a:lnSpc>
              <a:buNone/>
            </a:pPr>
            <a:r>
              <a:rPr lang="en-US" sz="1400" b="1" dirty="0">
                <a:solidFill>
                  <a:srgbClr val="0F172A"/>
                </a:solidFill>
                <a:latin typeface="Calibri" pitchFamily="34" charset="0"/>
                <a:ea typeface="Calibri" pitchFamily="34" charset="-122"/>
                <a:cs typeface="Calibri" pitchFamily="34" charset="-120"/>
              </a:rPr>
              <a:t>Enhance Targeted Marketing
</a:t>
            </a:r>
            <a:endParaRPr lang="en-US" sz="1400" dirty="0"/>
          </a:p>
        </p:txBody>
      </p:sp>
      <p:sp>
        <p:nvSpPr>
          <p:cNvPr id="21" name="Text 9"/>
          <p:cNvSpPr/>
          <p:nvPr/>
        </p:nvSpPr>
        <p:spPr>
          <a:xfrm>
            <a:off x="1079473" y="4416950"/>
            <a:ext cx="10350241" cy="800080"/>
          </a:xfrm>
          <a:prstGeom prst="rect">
            <a:avLst/>
          </a:prstGeom>
          <a:noFill/>
          <a:ln/>
        </p:spPr>
        <p:txBody>
          <a:bodyPr wrap="square" lIns="0" tIns="0" rIns="0" bIns="0" rtlCol="0" anchor="t"/>
          <a:lstStyle/>
          <a:p>
            <a:pPr marL="0" indent="0" algn="l">
              <a:lnSpc>
                <a:spcPct val="150000"/>
              </a:lnSpc>
              <a:buNone/>
            </a:pPr>
            <a:r>
              <a:rPr lang="en-US" sz="1300" dirty="0">
                <a:solidFill>
                  <a:srgbClr val="64748B"/>
                </a:solidFill>
                <a:latin typeface="Calibri" pitchFamily="34" charset="0"/>
                <a:ea typeface="Calibri" pitchFamily="34" charset="-122"/>
                <a:cs typeface="Calibri" pitchFamily="34" charset="-120"/>
              </a:rPr>
              <a:t>Develop targeted marketing strategies for express-shipping users, as they spend 15% more on average than standard shipping customers.
</a:t>
            </a:r>
            <a:endParaRPr lang="en-US" sz="1300" dirty="0"/>
          </a:p>
        </p:txBody>
      </p:sp>
      <p:sp>
        <p:nvSpPr>
          <p:cNvPr id="22" name="Text 10"/>
          <p:cNvSpPr/>
          <p:nvPr/>
        </p:nvSpPr>
        <p:spPr>
          <a:xfrm>
            <a:off x="761981" y="5224649"/>
            <a:ext cx="203195" cy="380990"/>
          </a:xfrm>
          <a:prstGeom prst="rect">
            <a:avLst/>
          </a:prstGeom>
          <a:noFill/>
          <a:ln/>
        </p:spPr>
        <p:txBody>
          <a:bodyPr wrap="square" lIns="0" tIns="0" rIns="0" bIns="0" rtlCol="0" anchor="t"/>
          <a:lstStyle/>
          <a:p>
            <a:pPr marL="0" indent="0" algn="l">
              <a:lnSpc>
                <a:spcPct val="130000"/>
              </a:lnSpc>
              <a:buNone/>
            </a:pPr>
            <a:r>
              <a:rPr lang="en-US" sz="1400" b="1" dirty="0">
                <a:solidFill>
                  <a:srgbClr val="3B82F6"/>
                </a:solidFill>
                <a:latin typeface="Calibri" pitchFamily="34" charset="0"/>
                <a:ea typeface="Calibri" pitchFamily="34" charset="-122"/>
                <a:cs typeface="Calibri" pitchFamily="34" charset="-120"/>
              </a:rPr>
              <a:t>•
</a:t>
            </a:r>
            <a:endParaRPr lang="en-US" sz="1400" dirty="0"/>
          </a:p>
        </p:txBody>
      </p:sp>
      <p:sp>
        <p:nvSpPr>
          <p:cNvPr id="23" name="Text 11"/>
          <p:cNvSpPr/>
          <p:nvPr/>
        </p:nvSpPr>
        <p:spPr>
          <a:xfrm>
            <a:off x="1079473" y="5173851"/>
            <a:ext cx="10350241" cy="380990"/>
          </a:xfrm>
          <a:prstGeom prst="rect">
            <a:avLst/>
          </a:prstGeom>
          <a:noFill/>
          <a:ln/>
        </p:spPr>
        <p:txBody>
          <a:bodyPr wrap="square" lIns="0" tIns="0" rIns="0" bIns="0" rtlCol="0" anchor="t"/>
          <a:lstStyle/>
          <a:p>
            <a:pPr marL="0" indent="0" algn="l">
              <a:lnSpc>
                <a:spcPct val="120000"/>
              </a:lnSpc>
              <a:buNone/>
            </a:pPr>
            <a:r>
              <a:rPr lang="en-US" sz="1400" b="1" dirty="0">
                <a:solidFill>
                  <a:srgbClr val="0F172A"/>
                </a:solidFill>
                <a:latin typeface="Calibri" pitchFamily="34" charset="0"/>
                <a:ea typeface="Calibri" pitchFamily="34" charset="-122"/>
                <a:cs typeface="Calibri" pitchFamily="34" charset="-120"/>
              </a:rPr>
              <a:t>Review Discount Policies Regularly
</a:t>
            </a:r>
            <a:endParaRPr lang="en-US" sz="1400" dirty="0"/>
          </a:p>
        </p:txBody>
      </p:sp>
      <p:sp>
        <p:nvSpPr>
          <p:cNvPr id="24" name="Text 12"/>
          <p:cNvSpPr/>
          <p:nvPr/>
        </p:nvSpPr>
        <p:spPr>
          <a:xfrm>
            <a:off x="1079473" y="5542141"/>
            <a:ext cx="10350241" cy="800080"/>
          </a:xfrm>
          <a:prstGeom prst="rect">
            <a:avLst/>
          </a:prstGeom>
          <a:noFill/>
          <a:ln/>
        </p:spPr>
        <p:txBody>
          <a:bodyPr wrap="square" lIns="0" tIns="0" rIns="0" bIns="0" rtlCol="0" anchor="t"/>
          <a:lstStyle/>
          <a:p>
            <a:pPr marL="0" indent="0" algn="l">
              <a:lnSpc>
                <a:spcPct val="150000"/>
              </a:lnSpc>
              <a:buNone/>
            </a:pPr>
            <a:r>
              <a:rPr lang="en-US" sz="1300" dirty="0">
                <a:solidFill>
                  <a:srgbClr val="64748B"/>
                </a:solidFill>
                <a:latin typeface="Calibri" pitchFamily="34" charset="0"/>
                <a:ea typeface="Calibri" pitchFamily="34" charset="-122"/>
                <a:cs typeface="Calibri" pitchFamily="34" charset="-120"/>
              </a:rPr>
              <a:t>Regularly assess and adjust discount policies to balance sales boosts with margin control, ensuring profitability while attracting customers.
</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3" name="Image 1" descr="preencoded.png"/>
          <p:cNvPicPr>
            <a:picLocks noChangeAspect="1"/>
          </p:cNvPicPr>
          <p:nvPr/>
        </p:nvPicPr>
        <p:blipFill>
          <a:blip r:embed="rId3"/>
          <a:stretch>
            <a:fillRect/>
          </a:stretch>
        </p:blipFill>
        <p:spPr>
          <a:xfrm>
            <a:off x="8889778" y="-1269968"/>
            <a:ext cx="3256197" cy="4444889"/>
          </a:xfrm>
          <a:prstGeom prst="rect">
            <a:avLst/>
          </a:prstGeom>
        </p:spPr>
      </p:pic>
      <p:pic>
        <p:nvPicPr>
          <p:cNvPr id="4" name="Image 2"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5" name="Image 3" descr="preencoded.png"/>
          <p:cNvPicPr>
            <a:picLocks noChangeAspect="1"/>
          </p:cNvPicPr>
          <p:nvPr/>
        </p:nvPicPr>
        <p:blipFill>
          <a:blip r:embed="rId4"/>
          <a:stretch>
            <a:fillRect/>
          </a:stretch>
        </p:blipFill>
        <p:spPr>
          <a:xfrm>
            <a:off x="10667733" y="5333867"/>
            <a:ext cx="1396965" cy="1396965"/>
          </a:xfrm>
          <a:prstGeom prst="rect">
            <a:avLst/>
          </a:prstGeom>
        </p:spPr>
      </p:pic>
      <p:pic>
        <p:nvPicPr>
          <p:cNvPr id="6" name="Image 4" descr="preencoded.png"/>
          <p:cNvPicPr>
            <a:picLocks noChangeAspect="1"/>
          </p:cNvPicPr>
          <p:nvPr/>
        </p:nvPicPr>
        <p:blipFill>
          <a:blip r:embed="rId5"/>
          <a:stretch>
            <a:fillRect/>
          </a:stretch>
        </p:blipFill>
        <p:spPr>
          <a:xfrm>
            <a:off x="0" y="1269968"/>
            <a:ext cx="63498" cy="4444889"/>
          </a:xfrm>
          <a:prstGeom prst="rect">
            <a:avLst/>
          </a:prstGeom>
        </p:spPr>
      </p:pic>
      <p:pic>
        <p:nvPicPr>
          <p:cNvPr id="7" name="Image 5" descr="preencoded.png"/>
          <p:cNvPicPr>
            <a:picLocks noChangeAspect="1"/>
          </p:cNvPicPr>
          <p:nvPr/>
        </p:nvPicPr>
        <p:blipFill>
          <a:blip r:embed="rId5"/>
          <a:stretch>
            <a:fillRect/>
          </a:stretch>
        </p:blipFill>
        <p:spPr>
          <a:xfrm>
            <a:off x="0" y="1269968"/>
            <a:ext cx="63498" cy="4444889"/>
          </a:xfrm>
          <a:prstGeom prst="rect">
            <a:avLst/>
          </a:prstGeom>
        </p:spPr>
      </p:pic>
      <p:pic>
        <p:nvPicPr>
          <p:cNvPr id="8" name="Image 6"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9" name="Image 7" descr="preencoded.png"/>
          <p:cNvPicPr>
            <a:picLocks noChangeAspect="1"/>
          </p:cNvPicPr>
          <p:nvPr/>
        </p:nvPicPr>
        <p:blipFill>
          <a:blip r:embed="rId6"/>
          <a:stretch>
            <a:fillRect/>
          </a:stretch>
        </p:blipFill>
        <p:spPr>
          <a:xfrm>
            <a:off x="10413740" y="6286343"/>
            <a:ext cx="1269968" cy="431789"/>
          </a:xfrm>
          <a:prstGeom prst="rect">
            <a:avLst/>
          </a:prstGeom>
        </p:spPr>
      </p:pic>
      <p:pic>
        <p:nvPicPr>
          <p:cNvPr id="10" name="Image 8" descr="preencoded.png"/>
          <p:cNvPicPr>
            <a:picLocks noChangeAspect="1"/>
          </p:cNvPicPr>
          <p:nvPr/>
        </p:nvPicPr>
        <p:blipFill>
          <a:blip r:embed="rId7"/>
          <a:stretch>
            <a:fillRect/>
          </a:stretch>
        </p:blipFill>
        <p:spPr>
          <a:xfrm>
            <a:off x="0" y="0"/>
            <a:ext cx="12145975" cy="76198"/>
          </a:xfrm>
          <a:prstGeom prst="rect">
            <a:avLst/>
          </a:prstGeom>
        </p:spPr>
      </p:pic>
      <p:pic>
        <p:nvPicPr>
          <p:cNvPr id="11" name="Image 9" descr="preencoded.png"/>
          <p:cNvPicPr>
            <a:picLocks noChangeAspect="1"/>
          </p:cNvPicPr>
          <p:nvPr/>
        </p:nvPicPr>
        <p:blipFill>
          <a:blip r:embed="rId7"/>
          <a:stretch>
            <a:fillRect/>
          </a:stretch>
        </p:blipFill>
        <p:spPr>
          <a:xfrm>
            <a:off x="0" y="0"/>
            <a:ext cx="12145975" cy="76198"/>
          </a:xfrm>
          <a:prstGeom prst="rect">
            <a:avLst/>
          </a:prstGeom>
        </p:spPr>
      </p:pic>
      <p:sp>
        <p:nvSpPr>
          <p:cNvPr id="12" name="Text 0"/>
          <p:cNvSpPr/>
          <p:nvPr/>
        </p:nvSpPr>
        <p:spPr>
          <a:xfrm>
            <a:off x="761981" y="507987"/>
            <a:ext cx="10667733" cy="76198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F172A"/>
                </a:solidFill>
                <a:latin typeface="Calibri" pitchFamily="34" charset="0"/>
                <a:ea typeface="Calibri" pitchFamily="34" charset="-122"/>
                <a:cs typeface="Calibri" pitchFamily="34" charset="-120"/>
              </a:rPr>
              <a:t>Future Directions
</a:t>
            </a:r>
            <a:endParaRPr lang="en-US" sz="2900" dirty="0"/>
          </a:p>
        </p:txBody>
      </p:sp>
      <p:sp>
        <p:nvSpPr>
          <p:cNvPr id="13" name="Shape 1"/>
          <p:cNvSpPr/>
          <p:nvPr/>
        </p:nvSpPr>
        <p:spPr>
          <a:xfrm>
            <a:off x="761981" y="1734777"/>
            <a:ext cx="3276518" cy="3408723"/>
          </a:xfrm>
          <a:prstGeom prst="rect">
            <a:avLst/>
          </a:prstGeom>
          <a:noFill/>
          <a:ln/>
        </p:spPr>
      </p:sp>
      <p:sp>
        <p:nvSpPr>
          <p:cNvPr id="14" name="Text 2"/>
          <p:cNvSpPr/>
          <p:nvPr/>
        </p:nvSpPr>
        <p:spPr>
          <a:xfrm>
            <a:off x="3327317" y="1887173"/>
            <a:ext cx="609585" cy="444489"/>
          </a:xfrm>
          <a:prstGeom prst="rect">
            <a:avLst/>
          </a:prstGeom>
          <a:noFill/>
          <a:ln/>
        </p:spPr>
        <p:txBody>
          <a:bodyPr wrap="square" lIns="1016" tIns="1016" rIns="1016" bIns="1016" rtlCol="0" anchor="t"/>
          <a:lstStyle/>
          <a:p>
            <a:pPr marL="0" indent="0" algn="r">
              <a:lnSpc>
                <a:spcPct val="100000"/>
              </a:lnSpc>
              <a:buNone/>
            </a:pPr>
            <a:r>
              <a:rPr lang="en-US" sz="2500" dirty="0">
                <a:solidFill>
                  <a:srgbClr val="3B82F6"/>
                </a:solidFill>
                <a:latin typeface="Calibri" pitchFamily="34" charset="0"/>
                <a:ea typeface="Calibri" pitchFamily="34" charset="-122"/>
                <a:cs typeface="Calibri" pitchFamily="34" charset="-120"/>
              </a:rPr>
              <a:t>1
</a:t>
            </a:r>
            <a:endParaRPr lang="en-US" sz="2500" dirty="0"/>
          </a:p>
        </p:txBody>
      </p:sp>
      <p:sp>
        <p:nvSpPr>
          <p:cNvPr id="15" name="Text 3"/>
          <p:cNvSpPr/>
          <p:nvPr/>
        </p:nvSpPr>
        <p:spPr>
          <a:xfrm>
            <a:off x="1066773" y="2560256"/>
            <a:ext cx="2666933" cy="1015975"/>
          </a:xfrm>
          <a:prstGeom prst="rect">
            <a:avLst/>
          </a:prstGeom>
          <a:noFill/>
          <a:ln/>
        </p:spPr>
        <p:txBody>
          <a:bodyPr wrap="square" lIns="1016" tIns="1016" rIns="1016" bIns="1016" rtlCol="0" anchor="t"/>
          <a:lstStyle/>
          <a:p>
            <a:pPr marL="0" indent="0" algn="l">
              <a:lnSpc>
                <a:spcPct val="125000"/>
              </a:lnSpc>
              <a:buNone/>
            </a:pPr>
            <a:r>
              <a:rPr lang="en-US" sz="1400" b="1" dirty="0">
                <a:solidFill>
                  <a:srgbClr val="0F172A"/>
                </a:solidFill>
                <a:latin typeface="Calibri" pitchFamily="34" charset="0"/>
                <a:ea typeface="Calibri" pitchFamily="34" charset="-122"/>
                <a:cs typeface="Calibri" pitchFamily="34" charset="-120"/>
              </a:rPr>
              <a:t>Monitor Customer Behavior
</a:t>
            </a:r>
            <a:endParaRPr lang="en-US" sz="1400" dirty="0"/>
          </a:p>
        </p:txBody>
      </p:sp>
      <p:sp>
        <p:nvSpPr>
          <p:cNvPr id="16" name="Text 4"/>
          <p:cNvSpPr/>
          <p:nvPr/>
        </p:nvSpPr>
        <p:spPr>
          <a:xfrm>
            <a:off x="1066773" y="3512732"/>
            <a:ext cx="2666933" cy="1996390"/>
          </a:xfrm>
          <a:prstGeom prst="rect">
            <a:avLst/>
          </a:prstGeom>
          <a:noFill/>
          <a:ln/>
        </p:spPr>
        <p:txBody>
          <a:bodyPr wrap="square" lIns="1016" tIns="1016" rIns="1016" bIns="1016" rtlCol="0" anchor="t"/>
          <a:lstStyle/>
          <a:p>
            <a:pPr marL="0" indent="0" algn="l">
              <a:lnSpc>
                <a:spcPct val="140000"/>
              </a:lnSpc>
              <a:buNone/>
            </a:pPr>
            <a:r>
              <a:rPr lang="en-US" sz="1300" dirty="0">
                <a:solidFill>
                  <a:srgbClr val="64748B"/>
                </a:solidFill>
                <a:latin typeface="Calibri" pitchFamily="34" charset="0"/>
                <a:ea typeface="Calibri" pitchFamily="34" charset="-122"/>
                <a:cs typeface="Calibri" pitchFamily="34" charset="-120"/>
              </a:rPr>
              <a:t>Continuously track customer shopping patterns to identify emerging trends and adapt strategies accordingly, ensuring alignment with market demands and consumer preferences.
</a:t>
            </a:r>
            <a:endParaRPr lang="en-US" sz="1300" dirty="0"/>
          </a:p>
        </p:txBody>
      </p:sp>
      <p:sp>
        <p:nvSpPr>
          <p:cNvPr id="17" name="Shape 5"/>
          <p:cNvSpPr/>
          <p:nvPr/>
        </p:nvSpPr>
        <p:spPr>
          <a:xfrm>
            <a:off x="4457589" y="1734777"/>
            <a:ext cx="3276518" cy="3408723"/>
          </a:xfrm>
          <a:prstGeom prst="rect">
            <a:avLst/>
          </a:prstGeom>
          <a:noFill/>
          <a:ln/>
        </p:spPr>
      </p:sp>
      <p:sp>
        <p:nvSpPr>
          <p:cNvPr id="18" name="Text 6"/>
          <p:cNvSpPr/>
          <p:nvPr/>
        </p:nvSpPr>
        <p:spPr>
          <a:xfrm>
            <a:off x="7022924" y="1887173"/>
            <a:ext cx="609585" cy="444489"/>
          </a:xfrm>
          <a:prstGeom prst="rect">
            <a:avLst/>
          </a:prstGeom>
          <a:noFill/>
          <a:ln/>
        </p:spPr>
        <p:txBody>
          <a:bodyPr wrap="square" lIns="1016" tIns="1016" rIns="1016" bIns="1016" rtlCol="0" anchor="t"/>
          <a:lstStyle/>
          <a:p>
            <a:pPr marL="0" indent="0" algn="r">
              <a:lnSpc>
                <a:spcPct val="100000"/>
              </a:lnSpc>
              <a:buNone/>
            </a:pPr>
            <a:r>
              <a:rPr lang="en-US" sz="2500" dirty="0">
                <a:solidFill>
                  <a:srgbClr val="3B82F6"/>
                </a:solidFill>
                <a:latin typeface="Calibri" pitchFamily="34" charset="0"/>
                <a:ea typeface="Calibri" pitchFamily="34" charset="-122"/>
                <a:cs typeface="Calibri" pitchFamily="34" charset="-120"/>
              </a:rPr>
              <a:t>2
</a:t>
            </a:r>
            <a:endParaRPr lang="en-US" sz="2500" dirty="0"/>
          </a:p>
        </p:txBody>
      </p:sp>
      <p:sp>
        <p:nvSpPr>
          <p:cNvPr id="19" name="Text 7"/>
          <p:cNvSpPr/>
          <p:nvPr/>
        </p:nvSpPr>
        <p:spPr>
          <a:xfrm>
            <a:off x="4762381" y="2560256"/>
            <a:ext cx="2666933" cy="1015975"/>
          </a:xfrm>
          <a:prstGeom prst="rect">
            <a:avLst/>
          </a:prstGeom>
          <a:noFill/>
          <a:ln/>
        </p:spPr>
        <p:txBody>
          <a:bodyPr wrap="square" lIns="1016" tIns="1016" rIns="1016" bIns="1016" rtlCol="0" anchor="t"/>
          <a:lstStyle/>
          <a:p>
            <a:pPr marL="0" indent="0" algn="l">
              <a:lnSpc>
                <a:spcPct val="125000"/>
              </a:lnSpc>
              <a:buNone/>
            </a:pPr>
            <a:r>
              <a:rPr lang="en-US" sz="1400" b="1" dirty="0">
                <a:solidFill>
                  <a:srgbClr val="0F172A"/>
                </a:solidFill>
                <a:latin typeface="Calibri" pitchFamily="34" charset="0"/>
                <a:ea typeface="Calibri" pitchFamily="34" charset="-122"/>
                <a:cs typeface="Calibri" pitchFamily="34" charset="-120"/>
              </a:rPr>
              <a:t>Integrate Data Sources
</a:t>
            </a:r>
            <a:endParaRPr lang="en-US" sz="1400" dirty="0"/>
          </a:p>
        </p:txBody>
      </p:sp>
      <p:sp>
        <p:nvSpPr>
          <p:cNvPr id="20" name="Text 8"/>
          <p:cNvSpPr/>
          <p:nvPr/>
        </p:nvSpPr>
        <p:spPr>
          <a:xfrm>
            <a:off x="4762381" y="3512732"/>
            <a:ext cx="2666933" cy="1996390"/>
          </a:xfrm>
          <a:prstGeom prst="rect">
            <a:avLst/>
          </a:prstGeom>
          <a:noFill/>
          <a:ln/>
        </p:spPr>
        <p:txBody>
          <a:bodyPr wrap="square" lIns="1016" tIns="1016" rIns="1016" bIns="1016" rtlCol="0" anchor="t"/>
          <a:lstStyle/>
          <a:p>
            <a:pPr marL="0" indent="0" algn="l">
              <a:lnSpc>
                <a:spcPct val="140000"/>
              </a:lnSpc>
              <a:buNone/>
            </a:pPr>
            <a:r>
              <a:rPr lang="en-US" sz="1300" dirty="0">
                <a:solidFill>
                  <a:srgbClr val="64748B"/>
                </a:solidFill>
                <a:latin typeface="Calibri" pitchFamily="34" charset="0"/>
                <a:ea typeface="Calibri" pitchFamily="34" charset="-122"/>
                <a:cs typeface="Calibri" pitchFamily="34" charset="-120"/>
              </a:rPr>
              <a:t>Incorporate additional data sources, such as social media and customer feedback, to gain deeper insights into customer preferences and enhance decision-making processes.
</a:t>
            </a:r>
            <a:endParaRPr lang="en-US" sz="1300" dirty="0"/>
          </a:p>
        </p:txBody>
      </p:sp>
      <p:sp>
        <p:nvSpPr>
          <p:cNvPr id="21" name="Shape 9"/>
          <p:cNvSpPr/>
          <p:nvPr/>
        </p:nvSpPr>
        <p:spPr>
          <a:xfrm>
            <a:off x="8153196" y="1734777"/>
            <a:ext cx="990804" cy="3408723"/>
          </a:xfrm>
          <a:prstGeom prst="rect">
            <a:avLst/>
          </a:prstGeom>
          <a:noFill/>
          <a:ln/>
        </p:spPr>
      </p:sp>
      <p:sp>
        <p:nvSpPr>
          <p:cNvPr id="22" name="Text 10"/>
          <p:cNvSpPr/>
          <p:nvPr/>
        </p:nvSpPr>
        <p:spPr>
          <a:xfrm>
            <a:off x="10718532" y="1887173"/>
            <a:ext cx="609585" cy="444489"/>
          </a:xfrm>
          <a:prstGeom prst="rect">
            <a:avLst/>
          </a:prstGeom>
          <a:noFill/>
          <a:ln/>
        </p:spPr>
        <p:txBody>
          <a:bodyPr wrap="square" lIns="1016" tIns="1016" rIns="1016" bIns="1016" rtlCol="0" anchor="t"/>
          <a:lstStyle/>
          <a:p>
            <a:pPr marL="0" indent="0" algn="r">
              <a:lnSpc>
                <a:spcPct val="100000"/>
              </a:lnSpc>
              <a:buNone/>
            </a:pPr>
            <a:r>
              <a:rPr lang="en-US" sz="2500" dirty="0">
                <a:solidFill>
                  <a:srgbClr val="3B82F6"/>
                </a:solidFill>
                <a:latin typeface="Calibri" pitchFamily="34" charset="0"/>
                <a:ea typeface="Calibri" pitchFamily="34" charset="-122"/>
                <a:cs typeface="Calibri" pitchFamily="34" charset="-120"/>
              </a:rPr>
              <a:t>3
</a:t>
            </a:r>
            <a:endParaRPr lang="en-US" sz="2500" dirty="0"/>
          </a:p>
        </p:txBody>
      </p:sp>
      <p:sp>
        <p:nvSpPr>
          <p:cNvPr id="23" name="Text 11"/>
          <p:cNvSpPr/>
          <p:nvPr/>
        </p:nvSpPr>
        <p:spPr>
          <a:xfrm>
            <a:off x="8457989" y="2560256"/>
            <a:ext cx="2666933" cy="1015975"/>
          </a:xfrm>
          <a:prstGeom prst="rect">
            <a:avLst/>
          </a:prstGeom>
          <a:noFill/>
          <a:ln/>
        </p:spPr>
        <p:txBody>
          <a:bodyPr wrap="square" lIns="1016" tIns="1016" rIns="1016" bIns="1016" rtlCol="0" anchor="t"/>
          <a:lstStyle/>
          <a:p>
            <a:pPr marL="0" indent="0" algn="l">
              <a:lnSpc>
                <a:spcPct val="125000"/>
              </a:lnSpc>
              <a:buNone/>
            </a:pPr>
            <a:r>
              <a:rPr lang="en-US" sz="1400" b="1" dirty="0">
                <a:solidFill>
                  <a:srgbClr val="0F172A"/>
                </a:solidFill>
                <a:latin typeface="Calibri" pitchFamily="34" charset="0"/>
                <a:ea typeface="Calibri" pitchFamily="34" charset="-122"/>
                <a:cs typeface="Calibri" pitchFamily="34" charset="-120"/>
              </a:rPr>
              <a:t>Update Dashboard Regularly
</a:t>
            </a:r>
            <a:endParaRPr lang="en-US" sz="1400" dirty="0"/>
          </a:p>
        </p:txBody>
      </p:sp>
      <p:sp>
        <p:nvSpPr>
          <p:cNvPr id="24" name="Text 12"/>
          <p:cNvSpPr/>
          <p:nvPr/>
        </p:nvSpPr>
        <p:spPr>
          <a:xfrm>
            <a:off x="8457989" y="3512732"/>
            <a:ext cx="2666933" cy="1996390"/>
          </a:xfrm>
          <a:prstGeom prst="rect">
            <a:avLst/>
          </a:prstGeom>
          <a:noFill/>
          <a:ln/>
        </p:spPr>
        <p:txBody>
          <a:bodyPr wrap="square" lIns="1016" tIns="1016" rIns="1016" bIns="1016" rtlCol="0" anchor="t"/>
          <a:lstStyle/>
          <a:p>
            <a:pPr marL="0" indent="0" algn="l">
              <a:lnSpc>
                <a:spcPct val="140000"/>
              </a:lnSpc>
              <a:buNone/>
            </a:pPr>
            <a:r>
              <a:rPr lang="en-US" sz="1300" dirty="0">
                <a:solidFill>
                  <a:srgbClr val="64748B"/>
                </a:solidFill>
                <a:latin typeface="Calibri" pitchFamily="34" charset="0"/>
                <a:ea typeface="Calibri" pitchFamily="34" charset="-122"/>
                <a:cs typeface="Calibri" pitchFamily="34" charset="-120"/>
              </a:rPr>
              <a:t>Ensure the Power BI dashboard is updated with new findings and metrics to provide stakeholders with the most current insights for informed business strategies.
</a:t>
            </a:r>
            <a:endParaRPr lang="en-US" sz="1300" dirty="0"/>
          </a:p>
        </p:txBody>
      </p:sp>
      <p:sp>
        <p:nvSpPr>
          <p:cNvPr id="25" name="Text 13"/>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4419490"/>
            <a:ext cx="3162221" cy="2392790"/>
          </a:xfrm>
          <a:prstGeom prst="rect">
            <a:avLst/>
          </a:prstGeom>
        </p:spPr>
      </p:pic>
      <p:pic>
        <p:nvPicPr>
          <p:cNvPr id="3" name="Image 1" descr="preencoded.png"/>
          <p:cNvPicPr>
            <a:picLocks noChangeAspect="1"/>
          </p:cNvPicPr>
          <p:nvPr/>
        </p:nvPicPr>
        <p:blipFill>
          <a:blip r:embed="rId3"/>
          <a:stretch>
            <a:fillRect/>
          </a:stretch>
        </p:blipFill>
        <p:spPr>
          <a:xfrm>
            <a:off x="0" y="4419490"/>
            <a:ext cx="3162221" cy="2392790"/>
          </a:xfrm>
          <a:prstGeom prst="rect">
            <a:avLst/>
          </a:prstGeom>
        </p:spPr>
      </p:pic>
      <p:pic>
        <p:nvPicPr>
          <p:cNvPr id="4" name="Image 2" descr="preencoded.png"/>
          <p:cNvPicPr>
            <a:picLocks noChangeAspect="1"/>
          </p:cNvPicPr>
          <p:nvPr/>
        </p:nvPicPr>
        <p:blipFill>
          <a:blip r:embed="rId4"/>
          <a:stretch>
            <a:fillRect/>
          </a:stretch>
        </p:blipFill>
        <p:spPr>
          <a:xfrm>
            <a:off x="10286743" y="2539937"/>
            <a:ext cx="1269968" cy="1777956"/>
          </a:xfrm>
          <a:prstGeom prst="rect">
            <a:avLst/>
          </a:prstGeom>
        </p:spPr>
      </p:pic>
      <p:pic>
        <p:nvPicPr>
          <p:cNvPr id="5" name="Image 3" descr="preencoded.png"/>
          <p:cNvPicPr>
            <a:picLocks noChangeAspect="1"/>
          </p:cNvPicPr>
          <p:nvPr/>
        </p:nvPicPr>
        <p:blipFill>
          <a:blip r:embed="rId5"/>
          <a:stretch>
            <a:fillRect/>
          </a:stretch>
        </p:blipFill>
        <p:spPr>
          <a:xfrm>
            <a:off x="634984" y="2539937"/>
            <a:ext cx="1269968" cy="1777956"/>
          </a:xfrm>
          <a:prstGeom prst="rect">
            <a:avLst/>
          </a:prstGeom>
        </p:spPr>
      </p:pic>
      <p:pic>
        <p:nvPicPr>
          <p:cNvPr id="6" name="Image 4" descr="preencoded.png"/>
          <p:cNvPicPr>
            <a:picLocks noChangeAspect="1"/>
          </p:cNvPicPr>
          <p:nvPr/>
        </p:nvPicPr>
        <p:blipFill>
          <a:blip r:embed="rId4"/>
          <a:stretch>
            <a:fillRect/>
          </a:stretch>
        </p:blipFill>
        <p:spPr>
          <a:xfrm>
            <a:off x="10286743" y="2539937"/>
            <a:ext cx="1269968" cy="1777956"/>
          </a:xfrm>
          <a:prstGeom prst="rect">
            <a:avLst/>
          </a:prstGeom>
        </p:spPr>
      </p:pic>
      <p:pic>
        <p:nvPicPr>
          <p:cNvPr id="7" name="Image 5" descr="preencoded.png"/>
          <p:cNvPicPr>
            <a:picLocks noChangeAspect="1"/>
          </p:cNvPicPr>
          <p:nvPr/>
        </p:nvPicPr>
        <p:blipFill>
          <a:blip r:embed="rId5"/>
          <a:stretch>
            <a:fillRect/>
          </a:stretch>
        </p:blipFill>
        <p:spPr>
          <a:xfrm>
            <a:off x="634984" y="2539937"/>
            <a:ext cx="1269968" cy="1777956"/>
          </a:xfrm>
          <a:prstGeom prst="rect">
            <a:avLst/>
          </a:prstGeom>
        </p:spPr>
      </p:pic>
      <p:pic>
        <p:nvPicPr>
          <p:cNvPr id="8" name="Image 6"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53436" y="4978276"/>
            <a:ext cx="1269968" cy="1269968"/>
          </a:xfrm>
          <a:prstGeom prst="rect">
            <a:avLst/>
          </a:prstGeom>
        </p:spPr>
      </p:pic>
      <p:pic>
        <p:nvPicPr>
          <p:cNvPr id="9" name="Image 7"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2284" y="914377"/>
            <a:ext cx="1015975" cy="1015975"/>
          </a:xfrm>
          <a:prstGeom prst="rect">
            <a:avLst/>
          </a:prstGeom>
        </p:spPr>
      </p:pic>
      <p:pic>
        <p:nvPicPr>
          <p:cNvPr id="10" name="Image 8"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53436" y="4978276"/>
            <a:ext cx="1269968" cy="1269968"/>
          </a:xfrm>
          <a:prstGeom prst="rect">
            <a:avLst/>
          </a:prstGeom>
        </p:spPr>
      </p:pic>
      <p:pic>
        <p:nvPicPr>
          <p:cNvPr id="11" name="Image 9"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2284" y="914377"/>
            <a:ext cx="1015975" cy="1015975"/>
          </a:xfrm>
          <a:prstGeom prst="rect">
            <a:avLst/>
          </a:prstGeom>
        </p:spPr>
      </p:pic>
      <p:pic>
        <p:nvPicPr>
          <p:cNvPr id="12" name="Image 10" descr="preencoded.png"/>
          <p:cNvPicPr>
            <a:picLocks noChangeAspect="1"/>
          </p:cNvPicPr>
          <p:nvPr/>
        </p:nvPicPr>
        <p:blipFill>
          <a:blip r:embed="rId10"/>
          <a:stretch>
            <a:fillRect/>
          </a:stretch>
        </p:blipFill>
        <p:spPr>
          <a:xfrm>
            <a:off x="5168771" y="355591"/>
            <a:ext cx="1727157" cy="761981"/>
          </a:xfrm>
          <a:prstGeom prst="rect">
            <a:avLst/>
          </a:prstGeom>
        </p:spPr>
      </p:pic>
      <p:pic>
        <p:nvPicPr>
          <p:cNvPr id="13" name="Image 11" descr="preencoded.png"/>
          <p:cNvPicPr>
            <a:picLocks noChangeAspect="1"/>
          </p:cNvPicPr>
          <p:nvPr/>
        </p:nvPicPr>
        <p:blipFill>
          <a:blip r:embed="rId10"/>
          <a:stretch>
            <a:fillRect/>
          </a:stretch>
        </p:blipFill>
        <p:spPr>
          <a:xfrm>
            <a:off x="5168771" y="355591"/>
            <a:ext cx="1727157" cy="761981"/>
          </a:xfrm>
          <a:prstGeom prst="rect">
            <a:avLst/>
          </a:prstGeom>
        </p:spPr>
      </p:pic>
      <p:pic>
        <p:nvPicPr>
          <p:cNvPr id="14" name="Image 12" descr="preencoded.png"/>
          <p:cNvPicPr>
            <a:picLocks noChangeAspect="1"/>
          </p:cNvPicPr>
          <p:nvPr/>
        </p:nvPicPr>
        <p:blipFill>
          <a:blip r:embed="rId11"/>
          <a:stretch>
            <a:fillRect/>
          </a:stretch>
        </p:blipFill>
        <p:spPr>
          <a:xfrm>
            <a:off x="0" y="6756231"/>
            <a:ext cx="12145975" cy="56049"/>
          </a:xfrm>
          <a:prstGeom prst="rect">
            <a:avLst/>
          </a:prstGeom>
        </p:spPr>
      </p:pic>
      <p:pic>
        <p:nvPicPr>
          <p:cNvPr id="15" name="Image 13" descr="preencoded.png"/>
          <p:cNvPicPr>
            <a:picLocks noChangeAspect="1"/>
          </p:cNvPicPr>
          <p:nvPr/>
        </p:nvPicPr>
        <p:blipFill>
          <a:blip r:embed="rId12"/>
          <a:stretch>
            <a:fillRect/>
          </a:stretch>
        </p:blipFill>
        <p:spPr>
          <a:xfrm>
            <a:off x="0" y="0"/>
            <a:ext cx="12145975" cy="101597"/>
          </a:xfrm>
          <a:prstGeom prst="rect">
            <a:avLst/>
          </a:prstGeom>
        </p:spPr>
      </p:pic>
      <p:pic>
        <p:nvPicPr>
          <p:cNvPr id="16" name="Image 14" descr="preencoded.png"/>
          <p:cNvPicPr>
            <a:picLocks noChangeAspect="1"/>
          </p:cNvPicPr>
          <p:nvPr/>
        </p:nvPicPr>
        <p:blipFill>
          <a:blip r:embed="rId11"/>
          <a:stretch>
            <a:fillRect/>
          </a:stretch>
        </p:blipFill>
        <p:spPr>
          <a:xfrm>
            <a:off x="0" y="6756231"/>
            <a:ext cx="12145975" cy="56049"/>
          </a:xfrm>
          <a:prstGeom prst="rect">
            <a:avLst/>
          </a:prstGeom>
        </p:spPr>
      </p:pic>
      <p:pic>
        <p:nvPicPr>
          <p:cNvPr id="17" name="Image 15" descr="preencoded.png"/>
          <p:cNvPicPr>
            <a:picLocks noChangeAspect="1"/>
          </p:cNvPicPr>
          <p:nvPr/>
        </p:nvPicPr>
        <p:blipFill>
          <a:blip r:embed="rId12"/>
          <a:stretch>
            <a:fillRect/>
          </a:stretch>
        </p:blipFill>
        <p:spPr>
          <a:xfrm>
            <a:off x="0" y="0"/>
            <a:ext cx="12145975" cy="101597"/>
          </a:xfrm>
          <a:prstGeom prst="rect">
            <a:avLst/>
          </a:prstGeom>
        </p:spPr>
      </p:pic>
      <p:sp>
        <p:nvSpPr>
          <p:cNvPr id="18" name="Text 0"/>
          <p:cNvSpPr/>
          <p:nvPr/>
        </p:nvSpPr>
        <p:spPr>
          <a:xfrm>
            <a:off x="2095448" y="1142971"/>
            <a:ext cx="8483388" cy="1269968"/>
          </a:xfrm>
          <a:prstGeom prst="rect">
            <a:avLst/>
          </a:prstGeom>
          <a:noFill/>
          <a:ln/>
        </p:spPr>
        <p:txBody>
          <a:bodyPr wrap="square" lIns="1016" tIns="1016" rIns="1016" bIns="1016" rtlCol="0" anchor="t"/>
          <a:lstStyle/>
          <a:p>
            <a:pPr marL="0" indent="0" algn="ctr">
              <a:lnSpc>
                <a:spcPct val="120000"/>
              </a:lnSpc>
              <a:buNone/>
            </a:pPr>
            <a:r>
              <a:rPr lang="en-US" sz="2900" b="1" dirty="0">
                <a:solidFill>
                  <a:srgbClr val="0F172A"/>
                </a:solidFill>
                <a:latin typeface="Calibri" pitchFamily="34" charset="0"/>
                <a:ea typeface="Calibri" pitchFamily="34" charset="-122"/>
                <a:cs typeface="Calibri" pitchFamily="34" charset="-120"/>
              </a:rPr>
              <a:t>Key Takeaways
</a:t>
            </a:r>
            <a:endParaRPr lang="en-US" sz="2900" dirty="0"/>
          </a:p>
        </p:txBody>
      </p:sp>
      <p:sp>
        <p:nvSpPr>
          <p:cNvPr id="19" name="Text 1"/>
          <p:cNvSpPr/>
          <p:nvPr/>
        </p:nvSpPr>
        <p:spPr>
          <a:xfrm>
            <a:off x="2349441" y="2451039"/>
            <a:ext cx="8051599" cy="3530512"/>
          </a:xfrm>
          <a:prstGeom prst="rect">
            <a:avLst/>
          </a:prstGeom>
          <a:noFill/>
          <a:ln/>
        </p:spPr>
        <p:txBody>
          <a:bodyPr wrap="square" lIns="1016" tIns="1016" rIns="1016" bIns="1016" rtlCol="0" anchor="t"/>
          <a:lstStyle/>
          <a:p>
            <a:pPr marL="0" indent="0" algn="ctr">
              <a:lnSpc>
                <a:spcPct val="150000"/>
              </a:lnSpc>
              <a:buNone/>
            </a:pPr>
            <a:r>
              <a:rPr lang="en-US" sz="1300" dirty="0">
                <a:solidFill>
                  <a:srgbClr val="64748B"/>
                </a:solidFill>
                <a:latin typeface="Calibri" pitchFamily="34" charset="0"/>
                <a:ea typeface="Calibri" pitchFamily="34" charset="-122"/>
                <a:cs typeface="Calibri" pitchFamily="34" charset="-120"/>
              </a:rPr>
              <a:t>In summary, our analysis revealed significant insights into customer shopping behavior, including revenue disparities by gender and the impact of discounts. We recommend enhancing customer loyalty programs and targeted marketing strategies to boost engagement. Moving forward, leveraging data-driven decisions will be crucial for optimizing sales and improving customer satisfaction. Let's embrace these insights to drive future growth and innovation.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1030</Words>
  <Application>Microsoft Office PowerPoint</Application>
  <PresentationFormat>Widescreen</PresentationFormat>
  <Paragraphs>95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Prince Kaushik</cp:lastModifiedBy>
  <cp:revision>2</cp:revision>
  <dcterms:created xsi:type="dcterms:W3CDTF">2026-06-12T22:33:50Z</dcterms:created>
  <dcterms:modified xsi:type="dcterms:W3CDTF">2026-06-12T22:37:01Z</dcterms:modified>
</cp:coreProperties>
</file>